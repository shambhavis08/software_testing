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06" r:id="rId4"/>
    <p:sldId id="307" r:id="rId5"/>
    <p:sldId id="308" r:id="rId6"/>
  </p:sldIdLst>
  <p:sldSz cx="10693400" cy="10693400"/>
  <p:notesSz cx="106934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100" d="100"/>
          <a:sy n="100" d="100"/>
        </p:scale>
        <p:origin x="-461" y="-62"/>
      </p:cViewPr>
      <p:guideLst>
        <p:guide orient="horz" pos="2880"/>
        <p:guide pos="212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35000" y="10009093"/>
            <a:ext cx="1042974" cy="215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64758" y="10009093"/>
            <a:ext cx="617727" cy="215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263143"/>
            <a:ext cx="24733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Verdana" panose="020B0604030504040204"/>
                <a:cs typeface="Verdana" panose="020B0604030504040204"/>
              </a:rPr>
              <a:t>Software</a:t>
            </a:r>
            <a:r>
              <a:rPr sz="1200" b="1" i="1" spc="-55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b="1" i="1" dirty="0">
                <a:latin typeface="Verdana" panose="020B0604030504040204"/>
                <a:cs typeface="Verdana" panose="020B0604030504040204"/>
              </a:rPr>
              <a:t>Testing</a:t>
            </a:r>
            <a:r>
              <a:rPr sz="1200" b="1" i="1" spc="-50" dirty="0">
                <a:latin typeface="Verdana" panose="020B0604030504040204"/>
                <a:cs typeface="Verdana" panose="020B0604030504040204"/>
              </a:rPr>
              <a:t> </a:t>
            </a:r>
            <a:r>
              <a:rPr sz="1200" b="1" i="1" spc="-10" dirty="0">
                <a:latin typeface="Verdana" panose="020B0604030504040204"/>
                <a:cs typeface="Verdana" panose="020B0604030504040204"/>
              </a:rPr>
              <a:t>Laboratory</a:t>
            </a:r>
            <a:endParaRPr sz="1200">
              <a:latin typeface="Verdana" panose="020B0604030504040204"/>
              <a:cs typeface="Verdana" panose="020B060403050404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499871"/>
            <a:ext cx="8946084" cy="46229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18288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9144"/>
                </a:lnTo>
                <a:lnTo>
                  <a:pt x="5769229" y="9144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953243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47244"/>
                </a:moveTo>
                <a:lnTo>
                  <a:pt x="0" y="47244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47244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38100"/>
                </a:lnTo>
                <a:lnTo>
                  <a:pt x="5769229" y="38100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182114" y="717295"/>
            <a:ext cx="31978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SOFTWARE</a:t>
            </a:r>
            <a:r>
              <a:rPr sz="14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TESTING</a:t>
            </a:r>
            <a:r>
              <a:rPr sz="1400" b="1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LABORATORY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40"/>
              </a:spcBef>
            </a:pPr>
            <a:r>
              <a:rPr dirty="0"/>
              <a:t>Page</a:t>
            </a:r>
            <a:r>
              <a:rPr spc="-30" dirty="0"/>
              <a:t> </a:t>
            </a:r>
            <a:r>
              <a:rPr spc="-50" dirty="0"/>
              <a:t>2</a:t>
            </a:r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902004" y="1127505"/>
            <a:ext cx="1532255" cy="20129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380"/>
              </a:lnSpc>
              <a:spcBef>
                <a:spcPts val="195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Subject</a:t>
            </a:r>
            <a:r>
              <a:rPr sz="12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b="1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1200" b="1" spc="-3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200" b="1" spc="-10" dirty="0" smtClean="0">
                <a:latin typeface="Times New Roman" panose="02020603050405020304"/>
                <a:cs typeface="Times New Roman" panose="02020603050405020304"/>
              </a:rPr>
              <a:t>22IS73 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0300" y="1993900"/>
            <a:ext cx="8610600" cy="3001010"/>
          </a:xfrm>
          <a:prstGeom prst="rect">
            <a:avLst/>
          </a:prstGeom>
        </p:spPr>
        <p:txBody>
          <a:bodyPr vert="horz" wrap="square" lIns="0" tIns="20320" rIns="0" bIns="0" rtlCol="0">
            <a:noAutofit/>
          </a:bodyPr>
          <a:lstStyle/>
          <a:p>
            <a:pPr>
              <a:lnSpc>
                <a:spcPct val="200000"/>
              </a:lnSpc>
              <a:spcBef>
                <a:spcPts val="1210"/>
              </a:spcBef>
              <a:buFont typeface="Times New Roman" panose="02020603050405020304"/>
              <a:buAutoNum type="arabicPeriod"/>
            </a:pP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065" marR="6985" indent="0" algn="just">
              <a:lnSpc>
                <a:spcPct val="200000"/>
              </a:lnSpc>
              <a:buNone/>
              <a:tabLst>
                <a:tab pos="240665" algn="l"/>
              </a:tabLst>
            </a:pPr>
            <a:r>
              <a:rPr lang="en-US" altLang="" sz="1800" dirty="0">
                <a:latin typeface="Times New Roman" panose="02020603050405020304"/>
                <a:cs typeface="Times New Roman" panose="02020603050405020304"/>
                <a:sym typeface="+mn-ea"/>
              </a:rPr>
              <a:t>7.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Design, develop,</a:t>
            </a:r>
            <a:r>
              <a:rPr sz="1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code</a:t>
            </a:r>
            <a:r>
              <a:rPr sz="1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1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run</a:t>
            </a:r>
            <a:r>
              <a:rPr sz="1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1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program</a:t>
            </a:r>
            <a:r>
              <a:rPr sz="1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in</a:t>
            </a:r>
            <a:r>
              <a:rPr sz="1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any</a:t>
            </a:r>
            <a:r>
              <a:rPr sz="1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suitable language</a:t>
            </a:r>
            <a:r>
              <a:rPr sz="1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to</a:t>
            </a:r>
            <a:r>
              <a:rPr sz="1800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implement</a:t>
            </a:r>
            <a:r>
              <a:rPr sz="1800" spc="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spc="-25" dirty="0">
                <a:latin typeface="Times New Roman" panose="02020603050405020304"/>
                <a:cs typeface="Times New Roman" panose="02020603050405020304"/>
                <a:sym typeface="+mn-ea"/>
              </a:rPr>
              <a:t>the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binary</a:t>
            </a:r>
            <a:r>
              <a:rPr sz="1800" spc="1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search</a:t>
            </a:r>
            <a:r>
              <a:rPr sz="1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algorithm.</a:t>
            </a:r>
            <a:r>
              <a:rPr sz="1800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Determine</a:t>
            </a:r>
            <a:r>
              <a:rPr sz="1800" spc="1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1800" spc="1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basis</a:t>
            </a:r>
            <a:r>
              <a:rPr sz="1800" spc="14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paths</a:t>
            </a:r>
            <a:r>
              <a:rPr sz="1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1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using</a:t>
            </a:r>
            <a:r>
              <a:rPr sz="1800" spc="1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them</a:t>
            </a:r>
            <a:r>
              <a:rPr sz="1800" spc="1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derive</a:t>
            </a:r>
            <a:r>
              <a:rPr sz="1800" spc="13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different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test</a:t>
            </a:r>
            <a:r>
              <a:rPr sz="1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cases,</a:t>
            </a:r>
            <a:r>
              <a:rPr sz="1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execute</a:t>
            </a:r>
            <a:r>
              <a:rPr sz="1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these</a:t>
            </a:r>
            <a:r>
              <a:rPr sz="1800" spc="-2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test</a:t>
            </a:r>
            <a:r>
              <a:rPr sz="1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cases</a:t>
            </a:r>
            <a:r>
              <a:rPr sz="1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and</a:t>
            </a:r>
            <a:r>
              <a:rPr sz="18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discuss</a:t>
            </a:r>
            <a:r>
              <a:rPr sz="1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the</a:t>
            </a:r>
            <a:r>
              <a:rPr sz="1800" spc="-1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  <a:sym typeface="+mn-ea"/>
              </a:rPr>
              <a:t>test</a:t>
            </a:r>
            <a:r>
              <a:rPr sz="1800" spc="-2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  <a:sym typeface="+mn-ea"/>
              </a:rPr>
              <a:t>results.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065" marR="6985" indent="0" algn="just">
              <a:lnSpc>
                <a:spcPct val="200000"/>
              </a:lnSpc>
              <a:buNone/>
              <a:tabLst>
                <a:tab pos="240665" algn="l"/>
              </a:tabLst>
            </a:pP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6416" y="620267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18288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9144"/>
                </a:lnTo>
                <a:lnTo>
                  <a:pt x="5769229" y="9144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02004" y="306245"/>
            <a:ext cx="5800090" cy="848487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85"/>
              </a:spcBef>
              <a:tabLst>
                <a:tab pos="5522595" algn="l"/>
              </a:tabLst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r>
              <a:rPr sz="1200" dirty="0">
                <a:latin typeface="Cambria" panose="02040503050406030204"/>
                <a:cs typeface="Cambria" panose="02040503050406030204"/>
              </a:rPr>
              <a:t>	</a:t>
            </a:r>
            <a:endParaRPr sz="1200">
              <a:latin typeface="Cambria" panose="02040503050406030204"/>
              <a:cs typeface="Cambria" panose="02040503050406030204"/>
            </a:endParaRPr>
          </a:p>
          <a:p>
            <a:pPr marL="12700" algn="just">
              <a:lnSpc>
                <a:spcPct val="100000"/>
              </a:lnSpc>
              <a:spcBef>
                <a:spcPts val="685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8</a:t>
            </a:r>
            <a:r>
              <a:rPr sz="14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(Binary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1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400" b="1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Path</a:t>
            </a:r>
            <a:r>
              <a:rPr sz="14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Testing)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 marR="45085" algn="just">
              <a:lnSpc>
                <a:spcPts val="1380"/>
              </a:lnSpc>
              <a:spcBef>
                <a:spcPts val="960"/>
              </a:spcBef>
            </a:pPr>
            <a:r>
              <a:rPr sz="1200" b="1" dirty="0">
                <a:latin typeface="Times New Roman" panose="02020603050405020304"/>
                <a:cs typeface="Times New Roman" panose="02020603050405020304"/>
              </a:rPr>
              <a:t>/*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Design,</a:t>
            </a:r>
            <a:r>
              <a:rPr sz="1200" b="1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1200" b="1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00" b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code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run</a:t>
            </a:r>
            <a:r>
              <a:rPr sz="1200" b="1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200" b="1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b="1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any</a:t>
            </a:r>
            <a:r>
              <a:rPr sz="1200" b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language</a:t>
            </a:r>
            <a:r>
              <a:rPr sz="1200" b="1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200" b="1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implement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binary</a:t>
            </a:r>
            <a:r>
              <a:rPr sz="12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120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algorithm.</a:t>
            </a:r>
            <a:r>
              <a:rPr sz="12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Determine</a:t>
            </a:r>
            <a:r>
              <a:rPr sz="12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basis</a:t>
            </a:r>
            <a:r>
              <a:rPr sz="12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paths</a:t>
            </a:r>
            <a:r>
              <a:rPr sz="12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using</a:t>
            </a:r>
            <a:r>
              <a:rPr sz="1200" b="1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them</a:t>
            </a:r>
            <a:r>
              <a:rPr sz="1200" b="1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derive</a:t>
            </a:r>
            <a:r>
              <a:rPr sz="1200" b="1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different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execute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discuss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dirty="0">
                <a:latin typeface="Times New Roman" panose="02020603050405020304"/>
                <a:cs typeface="Times New Roman" panose="02020603050405020304"/>
              </a:rPr>
              <a:t>results</a:t>
            </a:r>
            <a:r>
              <a:rPr sz="1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25" dirty="0">
                <a:latin typeface="Times New Roman" panose="02020603050405020304"/>
                <a:cs typeface="Times New Roman" panose="02020603050405020304"/>
              </a:rPr>
              <a:t>*/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  <a:spcBef>
                <a:spcPts val="1260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#include&lt;stdio.h&gt;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binsrc(int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x[],int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low,int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high,int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key)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7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 marR="4211955">
              <a:lnSpc>
                <a:spcPts val="1380"/>
              </a:lnSpc>
              <a:spcBef>
                <a:spcPts val="6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mid;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while(low&lt;=high)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ts val="131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6465" marR="369443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mid=(low+high)/2; if(key==x[mid])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6465" marR="3726180" indent="457200">
              <a:lnSpc>
                <a:spcPts val="1380"/>
              </a:lnSpc>
              <a:spcBef>
                <a:spcPts val="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mid;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if(key&lt;x[mid])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high=mid-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1;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6465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low=mid+1;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ts val="1380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2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-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1;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  <a:spcBef>
                <a:spcPts val="1320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main()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 marR="3679825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x[20],key,i,n,succ; printf("Enter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value"); scanf("%d",&amp;n);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if(n&gt;0)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6465" marR="2323465" indent="-45720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elements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ascending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order\n"); for(i=0;i&lt;n;i++)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6465">
              <a:lnSpc>
                <a:spcPts val="134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scanf("%d",&amp;x[i]);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774065" marR="2379980" indent="-3048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printf("enter</a:t>
            </a:r>
            <a:r>
              <a:rPr sz="12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the key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element to</a:t>
            </a:r>
            <a:r>
              <a:rPr sz="12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be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searched\n"); scanf("%d",&amp;key);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6465" marR="3301365">
              <a:lnSpc>
                <a:spcPts val="1380"/>
              </a:lnSpc>
              <a:spcBef>
                <a:spcPts val="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succ=binsrc(x,0,n-1,key); if(succ&gt;=0)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15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printf("Element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found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2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position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=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%d\n",succ+1);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926465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384300">
              <a:lnSpc>
                <a:spcPts val="1380"/>
              </a:lnSpc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printf("Element</a:t>
            </a:r>
            <a:r>
              <a:rPr sz="12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2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found</a:t>
            </a:r>
            <a:r>
              <a:rPr sz="1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\n");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ts val="138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>
              <a:lnSpc>
                <a:spcPts val="1380"/>
              </a:lnSpc>
            </a:pP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else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469265" marR="1265555" indent="457200">
              <a:lnSpc>
                <a:spcPts val="1380"/>
              </a:lnSpc>
              <a:spcBef>
                <a:spcPts val="65"/>
              </a:spcBef>
            </a:pP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printf("Number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element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should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be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greater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than </a:t>
            </a:r>
            <a:r>
              <a:rPr sz="1200" spc="-10" dirty="0">
                <a:latin typeface="Times New Roman" panose="02020603050405020304"/>
                <a:cs typeface="Times New Roman" panose="02020603050405020304"/>
              </a:rPr>
              <a:t>zero\n");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return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latin typeface="Times New Roman" panose="02020603050405020304"/>
                <a:cs typeface="Times New Roman" panose="02020603050405020304"/>
              </a:rPr>
              <a:t>0;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45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}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9963911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47256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38100"/>
                </a:lnTo>
                <a:lnTo>
                  <a:pt x="5769229" y="38100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80491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20267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18288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9144"/>
                </a:lnTo>
                <a:lnTo>
                  <a:pt x="5769229" y="9144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963911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47256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38100"/>
                </a:lnTo>
                <a:lnTo>
                  <a:pt x="5769229" y="38100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02004" y="854709"/>
            <a:ext cx="4471670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1755">
              <a:lnSpc>
                <a:spcPts val="1635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Binary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Search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function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line</a:t>
            </a:r>
            <a:r>
              <a:rPr sz="14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number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365"/>
              </a:lnSpc>
            </a:pPr>
            <a:r>
              <a:rPr sz="1200" dirty="0"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12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binsrc(int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x[],int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low,int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dirty="0">
                <a:latin typeface="Times New Roman" panose="02020603050405020304"/>
                <a:cs typeface="Times New Roman" panose="02020603050405020304"/>
              </a:rPr>
              <a:t>high,int</a:t>
            </a:r>
            <a:r>
              <a:rPr sz="12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0" dirty="0">
                <a:latin typeface="Times New Roman" panose="02020603050405020304"/>
                <a:cs typeface="Times New Roman" panose="02020603050405020304"/>
              </a:rPr>
              <a:t>key)</a:t>
            </a:r>
            <a:endParaRPr sz="12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1410"/>
              </a:lnSpc>
            </a:pPr>
            <a:r>
              <a:rPr sz="1200" spc="-50" dirty="0">
                <a:latin typeface="Times New Roman" panose="02020603050405020304"/>
                <a:cs typeface="Times New Roman" panose="02020603050405020304"/>
              </a:rPr>
              <a:t>{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82954" y="1437216"/>
          <a:ext cx="5246370" cy="2267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"/>
                <a:gridCol w="934719"/>
                <a:gridCol w="2154554"/>
                <a:gridCol w="1487170"/>
                <a:gridCol w="299085"/>
              </a:tblGrid>
              <a:tr h="171450">
                <a:tc gridSpan="3">
                  <a:txBody>
                    <a:bodyPr/>
                    <a:lstStyle/>
                    <a:p>
                      <a:pPr marL="488315">
                        <a:lnSpc>
                          <a:spcPts val="1255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int</a:t>
                      </a:r>
                      <a:r>
                        <a:rPr sz="1200" spc="-1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mid;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ts val="1255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74625">
                <a:tc gridSpan="3">
                  <a:txBody>
                    <a:bodyPr/>
                    <a:lstStyle/>
                    <a:p>
                      <a:pPr marL="488315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while(low&lt;=high)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ts val="128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vMerge="1">
                  <a:tcPr marL="0" marR="0" marT="0" marB="0"/>
                </a:tc>
              </a:tr>
              <a:tr h="175260">
                <a:tc gridSpan="3">
                  <a:txBody>
                    <a:bodyPr/>
                    <a:lstStyle/>
                    <a:p>
                      <a:pPr marL="488315">
                        <a:lnSpc>
                          <a:spcPts val="128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{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vMerge="1">
                  <a:tcPr marL="0" marR="0" marT="0" marB="0"/>
                </a:tc>
              </a:tr>
              <a:tr h="174625">
                <a:tc gridSpan="3">
                  <a:txBody>
                    <a:bodyPr/>
                    <a:lstStyle/>
                    <a:p>
                      <a:pPr marL="945515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mid=(low+high)/2;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vMerge="1">
                  <a:tcPr marL="0" marR="0" marT="0" marB="0"/>
                </a:tc>
              </a:tr>
              <a:tr h="174625">
                <a:tc gridSpan="3">
                  <a:txBody>
                    <a:bodyPr/>
                    <a:lstStyle/>
                    <a:p>
                      <a:pPr marL="945515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if(key==x[mid])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ts val="128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vMerge="1">
                  <a:tcPr marL="0" marR="0" marT="0" marB="0"/>
                </a:tc>
              </a:tr>
              <a:tr h="175260">
                <a:tc gridSpan="3">
                  <a:txBody>
                    <a:bodyPr/>
                    <a:lstStyle/>
                    <a:p>
                      <a:pPr marL="102870" algn="ctr">
                        <a:lnSpc>
                          <a:spcPts val="128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return</a:t>
                      </a:r>
                      <a:r>
                        <a:rPr sz="1200" spc="-40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mid;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ts val="128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vMerge="1">
                  <a:tcPr marL="0" marR="0" marT="0" marB="0"/>
                </a:tc>
              </a:tr>
              <a:tr h="174625">
                <a:tc gridSpan="3">
                  <a:txBody>
                    <a:bodyPr/>
                    <a:lstStyle/>
                    <a:p>
                      <a:pPr marL="945515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if(key&lt;x[mid])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9865">
                        <a:lnSpc>
                          <a:spcPts val="128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4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71450">
                <a:tc gridSpan="3">
                  <a:txBody>
                    <a:bodyPr/>
                    <a:lstStyle/>
                    <a:p>
                      <a:pPr marL="183515" algn="ctr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high=mid-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1;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R="183515" algn="r">
                        <a:lnSpc>
                          <a:spcPts val="1255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75260">
                <a:tc gridSpan="3">
                  <a:txBody>
                    <a:bodyPr/>
                    <a:lstStyle/>
                    <a:p>
                      <a:pPr marL="945515">
                        <a:lnSpc>
                          <a:spcPts val="1280"/>
                        </a:lnSpc>
                      </a:pPr>
                      <a:r>
                        <a:rPr sz="1200" spc="-20" dirty="0">
                          <a:latin typeface="Times New Roman" panose="02020603050405020304"/>
                          <a:cs typeface="Times New Roman" panose="02020603050405020304"/>
                        </a:rPr>
                        <a:t>else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178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2085">
                        <a:lnSpc>
                          <a:spcPts val="1255"/>
                        </a:lnSpc>
                      </a:pP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low=mid+1;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81330" algn="r">
                        <a:lnSpc>
                          <a:spcPts val="1255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6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128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}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81330" algn="r">
                        <a:lnSpc>
                          <a:spcPts val="128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1280"/>
                        </a:lnSpc>
                      </a:pPr>
                      <a:r>
                        <a:rPr sz="1200" dirty="0">
                          <a:latin typeface="Times New Roman" panose="02020603050405020304"/>
                          <a:cs typeface="Times New Roman" panose="02020603050405020304"/>
                        </a:rPr>
                        <a:t>return</a:t>
                      </a:r>
                      <a:r>
                        <a:rPr sz="1200" spc="-45" dirty="0">
                          <a:latin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1200" spc="-10" dirty="0">
                          <a:latin typeface="Times New Roman" panose="02020603050405020304"/>
                          <a:cs typeface="Times New Roman" panose="02020603050405020304"/>
                        </a:rPr>
                        <a:t>-</a:t>
                      </a:r>
                      <a:r>
                        <a:rPr sz="1200" spc="-25" dirty="0">
                          <a:latin typeface="Times New Roman" panose="02020603050405020304"/>
                          <a:cs typeface="Times New Roman" panose="02020603050405020304"/>
                        </a:rPr>
                        <a:t>1;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81330" algn="r">
                        <a:lnSpc>
                          <a:spcPts val="1280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8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  <a:tr h="171450">
                <a:tc>
                  <a:txBody>
                    <a:bodyPr/>
                    <a:lstStyle/>
                    <a:p>
                      <a:pPr marL="31750">
                        <a:lnSpc>
                          <a:spcPts val="1255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}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81330" algn="r">
                        <a:lnSpc>
                          <a:spcPts val="1255"/>
                        </a:lnSpc>
                      </a:pPr>
                      <a:r>
                        <a:rPr sz="1200" spc="-50" dirty="0">
                          <a:latin typeface="Times New Roman" panose="02020603050405020304"/>
                          <a:cs typeface="Times New Roman" panose="02020603050405020304"/>
                        </a:rPr>
                        <a:t>9</a:t>
                      </a:r>
                      <a:endParaRPr sz="1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 hMerge="1">
                  <a:tcPr marL="0" marR="0" marT="0" marB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382139" y="3892422"/>
            <a:ext cx="27978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Program</a:t>
            </a:r>
            <a:r>
              <a:rPr sz="14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Graph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Binary</a:t>
            </a:r>
            <a:r>
              <a:rPr sz="14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Search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80126" y="4783258"/>
            <a:ext cx="2930589" cy="336801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353242" y="4664392"/>
            <a:ext cx="2927350" cy="2969895"/>
            <a:chOff x="4353242" y="4664392"/>
            <a:chExt cx="2927350" cy="2969895"/>
          </a:xfrm>
        </p:grpSpPr>
        <p:sp>
          <p:nvSpPr>
            <p:cNvPr id="11" name="object 11"/>
            <p:cNvSpPr/>
            <p:nvPr/>
          </p:nvSpPr>
          <p:spPr>
            <a:xfrm>
              <a:off x="4358004" y="4669154"/>
              <a:ext cx="2917825" cy="2960370"/>
            </a:xfrm>
            <a:custGeom>
              <a:avLst/>
              <a:gdLst/>
              <a:ahLst/>
              <a:cxnLst/>
              <a:rect l="l" t="t" r="r" b="b"/>
              <a:pathLst>
                <a:path w="2917825" h="2960370">
                  <a:moveTo>
                    <a:pt x="0" y="2960370"/>
                  </a:moveTo>
                  <a:lnTo>
                    <a:pt x="2917825" y="2960370"/>
                  </a:lnTo>
                  <a:lnTo>
                    <a:pt x="2917825" y="0"/>
                  </a:lnTo>
                  <a:lnTo>
                    <a:pt x="0" y="0"/>
                  </a:lnTo>
                  <a:lnTo>
                    <a:pt x="0" y="296037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4849" y="4890515"/>
              <a:ext cx="2402375" cy="2442083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380491"/>
            <a:ext cx="14014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mbria" panose="02040503050406030204"/>
                <a:cs typeface="Cambria" panose="02040503050406030204"/>
              </a:rPr>
              <a:t>Software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dirty="0">
                <a:latin typeface="Cambria" panose="02040503050406030204"/>
                <a:cs typeface="Cambria" panose="02040503050406030204"/>
              </a:rPr>
              <a:t>Testing</a:t>
            </a:r>
            <a:r>
              <a:rPr sz="1200" spc="-15" dirty="0">
                <a:latin typeface="Cambria" panose="02040503050406030204"/>
                <a:cs typeface="Cambria" panose="02040503050406030204"/>
              </a:rPr>
              <a:t> </a:t>
            </a:r>
            <a:r>
              <a:rPr sz="1200" spc="-25" dirty="0">
                <a:latin typeface="Cambria" panose="02040503050406030204"/>
                <a:cs typeface="Cambria" panose="02040503050406030204"/>
              </a:rPr>
              <a:t>Lab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6416" y="620267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18288"/>
                </a:moveTo>
                <a:lnTo>
                  <a:pt x="0" y="18288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18288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9144"/>
                </a:lnTo>
                <a:lnTo>
                  <a:pt x="5769229" y="9144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96416" y="9963911"/>
            <a:ext cx="5769610" cy="56515"/>
          </a:xfrm>
          <a:custGeom>
            <a:avLst/>
            <a:gdLst/>
            <a:ahLst/>
            <a:cxnLst/>
            <a:rect l="l" t="t" r="r" b="b"/>
            <a:pathLst>
              <a:path w="5769609" h="56515">
                <a:moveTo>
                  <a:pt x="5769229" y="47256"/>
                </a:moveTo>
                <a:lnTo>
                  <a:pt x="0" y="47256"/>
                </a:lnTo>
                <a:lnTo>
                  <a:pt x="0" y="56388"/>
                </a:lnTo>
                <a:lnTo>
                  <a:pt x="5769229" y="56388"/>
                </a:lnTo>
                <a:lnTo>
                  <a:pt x="5769229" y="47256"/>
                </a:lnTo>
                <a:close/>
              </a:path>
              <a:path w="5769609" h="56515">
                <a:moveTo>
                  <a:pt x="5769229" y="0"/>
                </a:moveTo>
                <a:lnTo>
                  <a:pt x="0" y="0"/>
                </a:lnTo>
                <a:lnTo>
                  <a:pt x="0" y="38100"/>
                </a:lnTo>
                <a:lnTo>
                  <a:pt x="5769229" y="38100"/>
                </a:lnTo>
                <a:lnTo>
                  <a:pt x="5769229" y="0"/>
                </a:lnTo>
                <a:close/>
              </a:path>
            </a:pathLst>
          </a:custGeom>
          <a:solidFill>
            <a:srgbClr val="61232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7451" y="2447681"/>
            <a:ext cx="6417264" cy="273365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638" y="787996"/>
            <a:ext cx="5492748" cy="97590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731135" y="1958085"/>
            <a:ext cx="21005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Times New Roman" panose="02020603050405020304"/>
                <a:cs typeface="Times New Roman" panose="02020603050405020304"/>
              </a:rPr>
              <a:t>Test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Cases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–</a:t>
            </a:r>
            <a:r>
              <a:rPr sz="14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dirty="0">
                <a:latin typeface="Times New Roman" panose="02020603050405020304"/>
                <a:cs typeface="Times New Roman" panose="02020603050405020304"/>
              </a:rPr>
              <a:t>Binary</a:t>
            </a:r>
            <a:r>
              <a:rPr sz="14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b="1" spc="-10" dirty="0">
                <a:latin typeface="Times New Roman" panose="02020603050405020304"/>
                <a:cs typeface="Times New Roman" panose="02020603050405020304"/>
              </a:rPr>
              <a:t>Search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0"/>
              </a:spcBef>
            </a:pPr>
            <a:r>
              <a:rPr dirty="0"/>
              <a:t>Dept.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ISE</a:t>
            </a:r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1794</Words>
  <Application>WPS Presentation</Application>
  <PresentationFormat>Custom</PresentationFormat>
  <Paragraphs>155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Cambria</vt:lpstr>
      <vt:lpstr>Verdana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Lenovo</dc:creator>
  <cp:lastModifiedBy>K.S Mathad</cp:lastModifiedBy>
  <cp:revision>11</cp:revision>
  <dcterms:created xsi:type="dcterms:W3CDTF">2025-08-28T10:40:00Z</dcterms:created>
  <dcterms:modified xsi:type="dcterms:W3CDTF">2025-10-31T05:43:10Z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2015-07-24T16:30:00Z</vt:filetime>
  </property>
  <property fmtid="{D5CDD505-2E9C-101B-9397-08002B2CF9AE}" pid="3" name="Creator">
    <vt:lpwstr>convertonlinefree.com</vt:lpwstr>
  </property>
  <property fmtid="{D5CDD505-2E9C-101B-9397-08002B2CF9AE}" pid="4" name="LastSaved">
    <vt:filetime>2025-08-28T16:30:00Z</vt:filetime>
  </property>
  <property fmtid="{D5CDD505-2E9C-101B-9397-08002B2CF9AE}" pid="5" name="Producer">
    <vt:lpwstr>convertonlinefree.com</vt:lpwstr>
  </property>
  <property fmtid="{D5CDD505-2E9C-101B-9397-08002B2CF9AE}" pid="6" name="ICV">
    <vt:lpwstr>5843742CFCF84C85B6AC28A974C04D61_13</vt:lpwstr>
  </property>
  <property fmtid="{D5CDD505-2E9C-101B-9397-08002B2CF9AE}" pid="7" name="KSOProductBuildVer">
    <vt:lpwstr>1033-12.2.0.23131</vt:lpwstr>
  </property>
</Properties>
</file>