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0" r:id="rId4"/>
    <p:sldId id="271" r:id="rId5"/>
    <p:sldId id="275" r:id="rId6"/>
    <p:sldId id="276" r:id="rId7"/>
    <p:sldId id="277" r:id="rId8"/>
    <p:sldId id="302" r:id="rId9"/>
    <p:sldId id="303" r:id="rId10"/>
    <p:sldId id="304" r:id="rId11"/>
    <p:sldId id="305" r:id="rId12"/>
  </p:sldIdLst>
  <p:sldSz cx="10693400" cy="10693400"/>
  <p:notesSz cx="106934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-461" y="-62"/>
      </p:cViewPr>
      <p:guideLst>
        <p:guide orient="horz" pos="2880"/>
        <p:guide pos="21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35000" y="10009093"/>
            <a:ext cx="1042974" cy="215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64758" y="10009093"/>
            <a:ext cx="617727" cy="215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263143"/>
            <a:ext cx="2473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Verdana" panose="020B0604030504040204"/>
                <a:cs typeface="Verdana" panose="020B0604030504040204"/>
              </a:rPr>
              <a:t>Software</a:t>
            </a:r>
            <a:r>
              <a:rPr sz="1200" b="1" i="1" spc="-55" dirty="0">
                <a:latin typeface="Verdana" panose="020B0604030504040204"/>
                <a:cs typeface="Verdana" panose="020B0604030504040204"/>
              </a:rPr>
              <a:t> </a:t>
            </a:r>
            <a:r>
              <a:rPr sz="1200" b="1" i="1" dirty="0">
                <a:latin typeface="Verdana" panose="020B0604030504040204"/>
                <a:cs typeface="Verdana" panose="020B0604030504040204"/>
              </a:rPr>
              <a:t>Testing</a:t>
            </a:r>
            <a:r>
              <a:rPr sz="1200" b="1" i="1" spc="-50" dirty="0">
                <a:latin typeface="Verdana" panose="020B0604030504040204"/>
                <a:cs typeface="Verdana" panose="020B0604030504040204"/>
              </a:rPr>
              <a:t> </a:t>
            </a:r>
            <a:r>
              <a:rPr sz="1200" b="1" i="1" spc="-10" dirty="0">
                <a:latin typeface="Verdana" panose="020B0604030504040204"/>
                <a:cs typeface="Verdana" panose="020B0604030504040204"/>
              </a:rPr>
              <a:t>Laboratory</a:t>
            </a:r>
            <a:endParaRPr sz="12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499871"/>
            <a:ext cx="8946084" cy="46229"/>
          </a:xfrm>
          <a:custGeom>
            <a:avLst/>
            <a:gdLst/>
            <a:ahLst/>
            <a:cxnLst/>
            <a:rect l="l" t="t" r="r" b="b"/>
            <a:pathLst>
              <a:path w="5769609" h="56515">
                <a:moveTo>
                  <a:pt x="5769229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769229" y="56388"/>
                </a:lnTo>
                <a:lnTo>
                  <a:pt x="5769229" y="18288"/>
                </a:lnTo>
                <a:close/>
              </a:path>
              <a:path w="5769609" h="56515">
                <a:moveTo>
                  <a:pt x="5769229" y="0"/>
                </a:moveTo>
                <a:lnTo>
                  <a:pt x="0" y="0"/>
                </a:lnTo>
                <a:lnTo>
                  <a:pt x="0" y="9144"/>
                </a:lnTo>
                <a:lnTo>
                  <a:pt x="5769229" y="9144"/>
                </a:lnTo>
                <a:lnTo>
                  <a:pt x="5769229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953243"/>
            <a:ext cx="5769610" cy="56515"/>
          </a:xfrm>
          <a:custGeom>
            <a:avLst/>
            <a:gdLst/>
            <a:ahLst/>
            <a:cxnLst/>
            <a:rect l="l" t="t" r="r" b="b"/>
            <a:pathLst>
              <a:path w="5769609" h="56515">
                <a:moveTo>
                  <a:pt x="5769229" y="47244"/>
                </a:moveTo>
                <a:lnTo>
                  <a:pt x="0" y="47244"/>
                </a:lnTo>
                <a:lnTo>
                  <a:pt x="0" y="56388"/>
                </a:lnTo>
                <a:lnTo>
                  <a:pt x="5769229" y="56388"/>
                </a:lnTo>
                <a:lnTo>
                  <a:pt x="5769229" y="47244"/>
                </a:lnTo>
                <a:close/>
              </a:path>
              <a:path w="5769609" h="56515">
                <a:moveTo>
                  <a:pt x="5769229" y="0"/>
                </a:moveTo>
                <a:lnTo>
                  <a:pt x="0" y="0"/>
                </a:lnTo>
                <a:lnTo>
                  <a:pt x="0" y="38100"/>
                </a:lnTo>
                <a:lnTo>
                  <a:pt x="5769229" y="38100"/>
                </a:lnTo>
                <a:lnTo>
                  <a:pt x="5769229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182114" y="717295"/>
            <a:ext cx="31978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SOFTWARE</a:t>
            </a:r>
            <a:r>
              <a:rPr sz="14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TESTING</a:t>
            </a:r>
            <a:r>
              <a:rPr sz="14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LABORATORY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r>
              <a:rPr spc="-50" dirty="0"/>
              <a:t>2</a:t>
            </a:r>
            <a:endParaRPr spc="-50" dirty="0"/>
          </a:p>
        </p:txBody>
      </p:sp>
      <p:sp>
        <p:nvSpPr>
          <p:cNvPr id="7" name="object 7"/>
          <p:cNvSpPr txBox="1"/>
          <p:nvPr/>
        </p:nvSpPr>
        <p:spPr>
          <a:xfrm>
            <a:off x="902004" y="1127505"/>
            <a:ext cx="1532255" cy="55118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Subject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1200" b="1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b="1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200" b="1" spc="-10" dirty="0" smtClean="0">
                <a:latin typeface="Times New Roman" panose="02020603050405020304"/>
                <a:cs typeface="Times New Roman" panose="02020603050405020304"/>
              </a:rPr>
              <a:t>22IS73 </a:t>
            </a:r>
            <a:r>
              <a:rPr sz="1200" b="1" smtClean="0">
                <a:latin typeface="Times New Roman" panose="02020603050405020304"/>
                <a:cs typeface="Times New Roman" panose="02020603050405020304"/>
              </a:rPr>
              <a:t>Hours/Week</a:t>
            </a:r>
            <a:r>
              <a:rPr sz="1200" b="1" spc="-3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03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45"/>
              </a:lnSpc>
            </a:pP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0604" y="1993901"/>
            <a:ext cx="8635696" cy="124650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10"/>
              </a:spcBef>
              <a:buFont typeface="Times New Roman" panose="02020603050405020304"/>
              <a:buAutoNum type="arabicPeriod"/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065" marR="6985" indent="0" algn="just">
              <a:lnSpc>
                <a:spcPts val="1380"/>
              </a:lnSpc>
              <a:buNone/>
              <a:tabLst>
                <a:tab pos="240665" algn="l"/>
              </a:tabLst>
            </a:pPr>
            <a:r>
              <a:rPr lang="en-US" altLang="en-US" sz="1200" dirty="0">
                <a:latin typeface="Times New Roman" panose="02020603050405020304"/>
                <a:cs typeface="Times New Roman" panose="02020603050405020304"/>
              </a:rPr>
              <a:t>5.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Design,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develop,</a:t>
            </a:r>
            <a:r>
              <a:rPr sz="1200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1200" spc="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run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1200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any</a:t>
            </a:r>
            <a:r>
              <a:rPr sz="120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suitable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language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solve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problem.</a:t>
            </a:r>
            <a:r>
              <a:rPr sz="1200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Analyze</a:t>
            </a:r>
            <a:r>
              <a:rPr sz="1200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200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1200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perspective</a:t>
            </a:r>
            <a:r>
              <a:rPr sz="1200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equivalence</a:t>
            </a:r>
            <a:r>
              <a:rPr sz="12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class</a:t>
            </a:r>
            <a:r>
              <a:rPr sz="1200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testing,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derive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different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cases,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execute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these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cases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discuss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results.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160"/>
              </a:spcBef>
              <a:buFont typeface="Times New Roman" panose="02020603050405020304"/>
              <a:buAutoNum type="arabicPeriod"/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065" marR="5080" indent="0" algn="just">
              <a:lnSpc>
                <a:spcPct val="96000"/>
              </a:lnSpc>
              <a:spcBef>
                <a:spcPts val="5"/>
              </a:spcBef>
              <a:buNone/>
              <a:tabLst>
                <a:tab pos="240665" algn="l"/>
              </a:tabLst>
            </a:pPr>
            <a:r>
              <a:rPr lang="en-US" altLang="en-US" sz="1200" dirty="0">
                <a:latin typeface="Times New Roman" panose="02020603050405020304"/>
                <a:cs typeface="Times New Roman" panose="02020603050405020304"/>
              </a:rPr>
              <a:t>6.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Design,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develop,</a:t>
            </a:r>
            <a:r>
              <a:rPr sz="1200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1200" spc="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run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1200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any</a:t>
            </a:r>
            <a:r>
              <a:rPr sz="120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suitable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language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solve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problem.</a:t>
            </a:r>
            <a:r>
              <a:rPr sz="12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Analyze</a:t>
            </a:r>
            <a:r>
              <a:rPr sz="12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2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12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perspective</a:t>
            </a:r>
            <a:r>
              <a:rPr sz="12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decision</a:t>
            </a:r>
            <a:r>
              <a:rPr sz="12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table-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2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testing,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derive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different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cases,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execute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these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cases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discuss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results.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9412" y="492251"/>
            <a:ext cx="6036310" cy="56515"/>
          </a:xfrm>
          <a:custGeom>
            <a:avLst/>
            <a:gdLst/>
            <a:ahLst/>
            <a:cxnLst/>
            <a:rect l="l" t="t" r="r" b="b"/>
            <a:pathLst>
              <a:path w="6036309" h="56515">
                <a:moveTo>
                  <a:pt x="6036310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6036310" y="56388"/>
                </a:lnTo>
                <a:lnTo>
                  <a:pt x="6036310" y="18288"/>
                </a:lnTo>
                <a:close/>
              </a:path>
              <a:path w="6036309" h="56515">
                <a:moveTo>
                  <a:pt x="6036310" y="0"/>
                </a:moveTo>
                <a:lnTo>
                  <a:pt x="0" y="0"/>
                </a:lnTo>
                <a:lnTo>
                  <a:pt x="0" y="9144"/>
                </a:lnTo>
                <a:lnTo>
                  <a:pt x="6036310" y="9144"/>
                </a:lnTo>
                <a:lnTo>
                  <a:pt x="6036310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35000" y="181056"/>
            <a:ext cx="6024880" cy="95497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5720" algn="just">
              <a:lnSpc>
                <a:spcPct val="100000"/>
              </a:lnSpc>
              <a:spcBef>
                <a:spcPts val="675"/>
              </a:spcBef>
              <a:tabLst>
                <a:tab pos="5692140" algn="l"/>
              </a:tabLst>
            </a:pPr>
            <a:r>
              <a:rPr sz="1200" dirty="0">
                <a:latin typeface="Cambria" panose="02040503050406030204"/>
                <a:cs typeface="Cambria" panose="02040503050406030204"/>
              </a:rPr>
              <a:t>Software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Testing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Lab</a:t>
            </a:r>
            <a:r>
              <a:rPr sz="1200" dirty="0">
                <a:latin typeface="Cambria" panose="02040503050406030204"/>
                <a:cs typeface="Cambria" panose="02040503050406030204"/>
              </a:rPr>
              <a:t>	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MIT</a:t>
            </a:r>
            <a:endParaRPr sz="1200">
              <a:latin typeface="Cambria" panose="02040503050406030204"/>
              <a:cs typeface="Cambria" panose="02040503050406030204"/>
            </a:endParaRPr>
          </a:p>
          <a:p>
            <a:pPr marL="12700" marR="5080" algn="just">
              <a:lnSpc>
                <a:spcPts val="1620"/>
              </a:lnSpc>
              <a:spcBef>
                <a:spcPts val="780"/>
              </a:spcBef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1400" b="1" spc="3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5</a:t>
            </a:r>
            <a:r>
              <a:rPr sz="1400" b="1" spc="40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1400" b="1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Equivalence</a:t>
            </a:r>
            <a:r>
              <a:rPr sz="1400" b="1" spc="3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400" b="1" spc="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Case</a:t>
            </a:r>
            <a:r>
              <a:rPr sz="1400" b="1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4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Problem)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 marR="6350" algn="just">
              <a:lnSpc>
                <a:spcPts val="1380"/>
              </a:lnSpc>
              <a:spcBef>
                <a:spcPts val="670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/*</a:t>
            </a:r>
            <a:r>
              <a:rPr sz="1200" b="1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Design,</a:t>
            </a:r>
            <a:r>
              <a:rPr sz="1200" b="1" spc="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develop,</a:t>
            </a:r>
            <a:r>
              <a:rPr sz="1200" b="1" spc="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1200" b="1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b="1" spc="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run</a:t>
            </a:r>
            <a:r>
              <a:rPr sz="1200" b="1" spc="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b="1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1200" b="1" spc="3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b="1" spc="3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any</a:t>
            </a:r>
            <a:r>
              <a:rPr sz="1200" b="1" spc="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suitable</a:t>
            </a:r>
            <a:r>
              <a:rPr sz="1200" b="1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language</a:t>
            </a:r>
            <a:r>
              <a:rPr sz="1200" b="1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b="1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solve</a:t>
            </a:r>
            <a:r>
              <a:rPr sz="1200" b="1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b="1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problem.</a:t>
            </a:r>
            <a:r>
              <a:rPr sz="1200" b="1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Analyze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1200" b="1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perspective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b="1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200" b="1" spc="85" dirty="0">
                <a:latin typeface="Times New Roman" panose="02020603050405020304"/>
                <a:cs typeface="Times New Roman" panose="02020603050405020304"/>
              </a:rPr>
              <a:t>Equivalence class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derive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cases,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execute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these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cases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discuss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results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*/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 marR="5715" algn="just">
              <a:lnSpc>
                <a:spcPct val="110000"/>
              </a:lnSpc>
              <a:spcBef>
                <a:spcPts val="1180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/*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Assumption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price</a:t>
            </a:r>
            <a:r>
              <a:rPr sz="1200" b="1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b="1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lock=45.0,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stock=30.0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b="1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barrels=25.0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production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limit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could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sell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in a month 70 locks,80</a:t>
            </a:r>
            <a:r>
              <a:rPr sz="12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stocks and 90 barrels</a:t>
            </a:r>
            <a:r>
              <a:rPr sz="1200" b="1" spc="3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on sales = 10 %</a:t>
            </a:r>
            <a:r>
              <a:rPr sz="12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&lt;= 1000 and 15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50" dirty="0">
                <a:latin typeface="Times New Roman" panose="02020603050405020304"/>
                <a:cs typeface="Times New Roman" panose="02020603050405020304"/>
              </a:rPr>
              <a:t>%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200" b="1" spc="2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1000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1800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and 20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%</a:t>
            </a:r>
            <a:r>
              <a:rPr sz="12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above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1800*/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 marR="4897120">
              <a:lnSpc>
                <a:spcPts val="1380"/>
              </a:lnSpc>
              <a:spcBef>
                <a:spcPts val="1210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#include&lt;stdio.h&gt;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main()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1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 marR="2562225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locks,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stocks,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barrels,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tlocks,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tstocks,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tbarrels;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float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lprice,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sprice,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bprice,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sales,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comm;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 marR="445516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c1,c2,c3,temp; lprice=45.0; sprice=30.0; bprice=25.0; tlocks=0; tstocks=0; tbarrels=0;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 marR="847090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printf("\nenter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exit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loop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locks\n"); scanf("%d",&amp;locks);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1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while(locks!=-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1)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7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c1=(locks&lt;=0||locks&gt;70);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 marR="2035810">
              <a:lnSpc>
                <a:spcPts val="1380"/>
              </a:lnSpc>
              <a:spcBef>
                <a:spcPts val="70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printf("enter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stocks and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barrels\n"); scanf("%d%d",&amp;stocks,&amp;barrels); c2=(stocks&lt;=0||stocks&gt;80); c3=(barrels&lt;=0||barrels&gt;90);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15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if(c1)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printf("value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range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1..70</a:t>
            </a:r>
            <a:r>
              <a:rPr sz="120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");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0033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 marR="3428365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temp=tlocks+locks; if(temp&gt;70)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842135">
              <a:lnSpc>
                <a:spcPts val="1315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printf("new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=%d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range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1..70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old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",temp);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80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842135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tlocks=temp;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0795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41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printf("total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%d\n",tlocks);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410"/>
              </a:lnSpc>
              <a:spcBef>
                <a:spcPts val="1320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if(c2)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printf("value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stocks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range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1..80</a:t>
            </a:r>
            <a:r>
              <a:rPr sz="12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");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003300">
              <a:lnSpc>
                <a:spcPts val="141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 marR="3309620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temp=tstocks+stocks; if(temp&gt;80)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 marR="48387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printf("new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stocks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=%d</a:t>
            </a:r>
            <a:r>
              <a:rPr sz="12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range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1..80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old</a:t>
            </a:r>
            <a:r>
              <a:rPr sz="1200" spc="13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",temp);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9412" y="9963911"/>
            <a:ext cx="6036310" cy="56515"/>
          </a:xfrm>
          <a:custGeom>
            <a:avLst/>
            <a:gdLst/>
            <a:ahLst/>
            <a:cxnLst/>
            <a:rect l="l" t="t" r="r" b="b"/>
            <a:pathLst>
              <a:path w="6036309" h="56515">
                <a:moveTo>
                  <a:pt x="6036310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6036310" y="56388"/>
                </a:lnTo>
                <a:lnTo>
                  <a:pt x="6036310" y="47256"/>
                </a:lnTo>
                <a:close/>
              </a:path>
              <a:path w="6036309" h="56515">
                <a:moveTo>
                  <a:pt x="6036310" y="0"/>
                </a:moveTo>
                <a:lnTo>
                  <a:pt x="0" y="0"/>
                </a:lnTo>
                <a:lnTo>
                  <a:pt x="0" y="38100"/>
                </a:lnTo>
                <a:lnTo>
                  <a:pt x="6036310" y="38100"/>
                </a:lnTo>
                <a:lnTo>
                  <a:pt x="6036310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25" dirty="0"/>
              <a:t>ISE</a:t>
            </a:r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Page </a:t>
            </a:r>
            <a:r>
              <a:rPr spc="-25" dirty="0"/>
              <a:t>16</a:t>
            </a:r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8527" y="254000"/>
            <a:ext cx="140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Software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Testing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Lab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14694" y="254000"/>
            <a:ext cx="2895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" panose="02040503050406030204"/>
                <a:cs typeface="Cambria" panose="02040503050406030204"/>
              </a:rPr>
              <a:t>MIT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9412" y="492251"/>
            <a:ext cx="6036310" cy="56515"/>
          </a:xfrm>
          <a:custGeom>
            <a:avLst/>
            <a:gdLst/>
            <a:ahLst/>
            <a:cxnLst/>
            <a:rect l="l" t="t" r="r" b="b"/>
            <a:pathLst>
              <a:path w="6036309" h="56515">
                <a:moveTo>
                  <a:pt x="6036310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6036310" y="56388"/>
                </a:lnTo>
                <a:lnTo>
                  <a:pt x="6036310" y="18288"/>
                </a:lnTo>
                <a:close/>
              </a:path>
              <a:path w="6036309" h="56515">
                <a:moveTo>
                  <a:pt x="6036310" y="0"/>
                </a:moveTo>
                <a:lnTo>
                  <a:pt x="0" y="0"/>
                </a:lnTo>
                <a:lnTo>
                  <a:pt x="0" y="9144"/>
                </a:lnTo>
                <a:lnTo>
                  <a:pt x="6036310" y="9144"/>
                </a:lnTo>
                <a:lnTo>
                  <a:pt x="6036310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29412" y="9963911"/>
            <a:ext cx="6036310" cy="56515"/>
          </a:xfrm>
          <a:custGeom>
            <a:avLst/>
            <a:gdLst/>
            <a:ahLst/>
            <a:cxnLst/>
            <a:rect l="l" t="t" r="r" b="b"/>
            <a:pathLst>
              <a:path w="6036309" h="56515">
                <a:moveTo>
                  <a:pt x="6036310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6036310" y="56388"/>
                </a:lnTo>
                <a:lnTo>
                  <a:pt x="6036310" y="47256"/>
                </a:lnTo>
                <a:close/>
              </a:path>
              <a:path w="6036309" h="56515">
                <a:moveTo>
                  <a:pt x="6036310" y="0"/>
                </a:moveTo>
                <a:lnTo>
                  <a:pt x="0" y="0"/>
                </a:lnTo>
                <a:lnTo>
                  <a:pt x="0" y="38100"/>
                </a:lnTo>
                <a:lnTo>
                  <a:pt x="6036310" y="38100"/>
                </a:lnTo>
                <a:lnTo>
                  <a:pt x="6036310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35000" y="520700"/>
            <a:ext cx="5986145" cy="7745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0">
              <a:lnSpc>
                <a:spcPts val="1410"/>
              </a:lnSpc>
              <a:spcBef>
                <a:spcPts val="100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tstocks=temp;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0033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41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printf("total</a:t>
            </a:r>
            <a:r>
              <a:rPr sz="1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stocks=%d\n",tstocks);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410"/>
              </a:lnSpc>
              <a:spcBef>
                <a:spcPts val="1320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if(c3)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printf("value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range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1..90</a:t>
            </a:r>
            <a:r>
              <a:rPr sz="120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");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0033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 marR="3204210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temp=tbarrels+barrels; if(temp&gt;90)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 marR="52451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printf("new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barrels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=%d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range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1..90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old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",temp);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15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tbarrels=temp;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0414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printf("total</a:t>
            </a:r>
            <a:r>
              <a:rPr sz="1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barrel=%d",tbarrels);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 marR="351155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printf("\nenter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exit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loop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locks\n"); scanf("%d",&amp;locks);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1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 marR="5080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printf("\ntotal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%d\ntotal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=%d\ntotal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barrels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=%d\n",tlocks,tstocks,tbarrels);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sales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lprice*tlocks+sprice*tstocks+bprice*tbarrels;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45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printf("\nthe</a:t>
            </a:r>
            <a:r>
              <a:rPr sz="1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sales=%f\n",sales);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410"/>
              </a:lnSpc>
              <a:spcBef>
                <a:spcPts val="1320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if(tlocks&gt;0&amp;&amp;tstocks&gt;0&amp;&amp;tbarrels&gt;0)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if(sales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&gt;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1800.0)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comm=0.10*1000.0;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 marR="2407920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comm=comm+0.15*800; comm=comm+0.20*(sales-1800.0);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1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else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if(sales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&gt;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1000)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 marR="2522220">
              <a:lnSpc>
                <a:spcPts val="1380"/>
              </a:lnSpc>
              <a:spcBef>
                <a:spcPts val="7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comm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=0.10*1000; comm=comm+0.15*(sales-1000);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1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41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comm=0.10*sales;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410"/>
              </a:lnSpc>
              <a:spcBef>
                <a:spcPts val="132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printf("the</a:t>
            </a:r>
            <a:r>
              <a:rPr sz="1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is=%f\n",comm);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80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 marR="2196465" indent="456565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</a:t>
            </a: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cannot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calculated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\n");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0;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4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25" dirty="0"/>
              <a:t>ISE</a:t>
            </a:r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Page </a:t>
            </a:r>
            <a:r>
              <a:rPr spc="-25" dirty="0"/>
              <a:t>17</a:t>
            </a:r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2412" y="1011682"/>
            <a:ext cx="140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Software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Testing</a:t>
            </a:r>
            <a:r>
              <a:rPr sz="1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Lab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47935" y="1011682"/>
            <a:ext cx="2895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" panose="02040503050406030204"/>
                <a:cs typeface="Cambria" panose="02040503050406030204"/>
              </a:rPr>
              <a:t>MIT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6824" y="1251457"/>
            <a:ext cx="9645650" cy="56515"/>
          </a:xfrm>
          <a:custGeom>
            <a:avLst/>
            <a:gdLst/>
            <a:ahLst/>
            <a:cxnLst/>
            <a:rect l="l" t="t" r="r" b="b"/>
            <a:pathLst>
              <a:path w="9645650" h="56515">
                <a:moveTo>
                  <a:pt x="9645396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9645396" y="56388"/>
                </a:lnTo>
                <a:lnTo>
                  <a:pt x="9645396" y="18288"/>
                </a:lnTo>
                <a:close/>
              </a:path>
              <a:path w="9645650" h="56515">
                <a:moveTo>
                  <a:pt x="9645396" y="0"/>
                </a:moveTo>
                <a:lnTo>
                  <a:pt x="0" y="0"/>
                </a:lnTo>
                <a:lnTo>
                  <a:pt x="0" y="9144"/>
                </a:lnTo>
                <a:lnTo>
                  <a:pt x="9645396" y="9144"/>
                </a:lnTo>
                <a:lnTo>
                  <a:pt x="9645396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96824" y="7159752"/>
            <a:ext cx="9645650" cy="56515"/>
          </a:xfrm>
          <a:custGeom>
            <a:avLst/>
            <a:gdLst/>
            <a:ahLst/>
            <a:cxnLst/>
            <a:rect l="l" t="t" r="r" b="b"/>
            <a:pathLst>
              <a:path w="9645650" h="56515">
                <a:moveTo>
                  <a:pt x="9645396" y="47244"/>
                </a:moveTo>
                <a:lnTo>
                  <a:pt x="0" y="47244"/>
                </a:lnTo>
                <a:lnTo>
                  <a:pt x="0" y="56388"/>
                </a:lnTo>
                <a:lnTo>
                  <a:pt x="9645396" y="56388"/>
                </a:lnTo>
                <a:lnTo>
                  <a:pt x="9645396" y="47244"/>
                </a:lnTo>
                <a:close/>
              </a:path>
              <a:path w="9645650" h="56515">
                <a:moveTo>
                  <a:pt x="9645396" y="0"/>
                </a:moveTo>
                <a:lnTo>
                  <a:pt x="0" y="0"/>
                </a:lnTo>
                <a:lnTo>
                  <a:pt x="0" y="38100"/>
                </a:lnTo>
                <a:lnTo>
                  <a:pt x="9645396" y="38100"/>
                </a:lnTo>
                <a:lnTo>
                  <a:pt x="9645396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55168" y="1270616"/>
            <a:ext cx="7076440" cy="484441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6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Case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Name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:Equivalence</a:t>
            </a:r>
            <a:r>
              <a:rPr sz="1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Class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Problem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Experiment</a:t>
            </a:r>
            <a:r>
              <a:rPr sz="14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4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50" dirty="0">
                <a:latin typeface="Times New Roman" panose="02020603050405020304"/>
                <a:cs typeface="Times New Roman" panose="02020603050405020304"/>
              </a:rPr>
              <a:t>6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price</a:t>
            </a:r>
            <a:r>
              <a:rPr sz="12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45.0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30.0 and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 -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25.0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622300">
              <a:lnSpc>
                <a:spcPct val="100000"/>
              </a:lnSpc>
              <a:spcBef>
                <a:spcPts val="13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sales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*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price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*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price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*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price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622300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10%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up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sales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1000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15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%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next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800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20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%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any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sales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excess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1800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Pre-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condition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b="1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exit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1&lt;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=lock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&lt;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70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1&lt;=stock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&lt;=80 and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1&lt;=barrel&lt;=90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Brief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Description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salesperson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had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sell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least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one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complete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rifle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per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month.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558415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Checking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boundary</a:t>
            </a:r>
            <a:r>
              <a:rPr sz="1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value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locks,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barrels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commission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295775">
              <a:lnSpc>
                <a:spcPct val="100000"/>
              </a:lnSpc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Valid</a:t>
            </a:r>
            <a:r>
              <a:rPr sz="12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Classes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L1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={LOCKS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:1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&lt;=LOCKS&lt;=70}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 marR="2845435">
              <a:lnSpc>
                <a:spcPct val="109000"/>
              </a:lnSpc>
              <a:spcBef>
                <a:spcPts val="15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L2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={Locks=-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1}(occurs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locks=-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input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iteration)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L3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={stocks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1&lt;=stocks&lt;=80}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L4=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{barrels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:1&lt;=barrels&lt;=90}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240530">
              <a:lnSpc>
                <a:spcPct val="100000"/>
              </a:lnSpc>
              <a:spcBef>
                <a:spcPts val="160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Invalid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Classes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 marR="4869815">
              <a:lnSpc>
                <a:spcPts val="1570"/>
              </a:lnSpc>
              <a:spcBef>
                <a:spcPts val="6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L3</a:t>
            </a:r>
            <a:r>
              <a:rPr sz="120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={locks: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locks=0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locks&lt;-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1}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L4</a:t>
            </a:r>
            <a:r>
              <a:rPr sz="120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={locks: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locks&gt;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70}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S2</a:t>
            </a:r>
            <a:r>
              <a:rPr sz="1200" spc="2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={stocks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stocks&lt;1}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S3</a:t>
            </a:r>
            <a:r>
              <a:rPr sz="1200" spc="2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={stocks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stocks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&gt;80}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 marR="5418455">
              <a:lnSpc>
                <a:spcPct val="109000"/>
              </a:lnSpc>
              <a:spcBef>
                <a:spcPts val="315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B2</a:t>
            </a:r>
            <a:r>
              <a:rPr sz="120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={barrels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&lt;1}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B3</a:t>
            </a:r>
            <a:r>
              <a:rPr sz="120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=barrels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&gt;90}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383790" algn="ctr">
              <a:lnSpc>
                <a:spcPct val="100000"/>
              </a:lnSpc>
              <a:spcBef>
                <a:spcPts val="260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Problem</a:t>
            </a:r>
            <a:r>
              <a:rPr sz="12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Output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Equivalence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Class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Testing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381250" algn="ctr">
              <a:lnSpc>
                <a:spcPct val="100000"/>
              </a:lnSpc>
              <a:spcBef>
                <a:spcPts val="445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Weak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Strong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Normal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Equivalence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Class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50" dirty="0">
                <a:latin typeface="Times New Roman" panose="02020603050405020304"/>
                <a:cs typeface="Times New Roman" panose="02020603050405020304"/>
              </a:rPr>
              <a:t>)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9363" y="7217126"/>
            <a:ext cx="775970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Dept.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of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 ISE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89185" y="7217126"/>
            <a:ext cx="575945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Page</a:t>
            </a:r>
            <a:r>
              <a:rPr sz="1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21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97763" y="6136894"/>
          <a:ext cx="9654540" cy="1000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090"/>
                <a:gridCol w="2400935"/>
                <a:gridCol w="571500"/>
                <a:gridCol w="560704"/>
                <a:gridCol w="620395"/>
                <a:gridCol w="914400"/>
                <a:gridCol w="1610995"/>
                <a:gridCol w="444500"/>
                <a:gridCol w="741679"/>
                <a:gridCol w="457200"/>
                <a:gridCol w="781684"/>
              </a:tblGrid>
              <a:tr h="215900">
                <a:tc rowSpan="2">
                  <a:txBody>
                    <a:bodyPr/>
                    <a:lstStyle/>
                    <a:p>
                      <a:pPr marL="170180" marR="80010" indent="-85725">
                        <a:lnSpc>
                          <a:spcPct val="102000"/>
                        </a:lnSpc>
                        <a:spcBef>
                          <a:spcPts val="790"/>
                        </a:spcBef>
                      </a:pP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Case </a:t>
                      </a:r>
                      <a:r>
                        <a:rPr sz="12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03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Description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5391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Input</a:t>
                      </a:r>
                      <a:r>
                        <a:rPr sz="12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Data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2644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Expected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Actual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56845" marR="94615" indent="-55245">
                        <a:lnSpc>
                          <a:spcPct val="102000"/>
                        </a:lnSpc>
                        <a:spcBef>
                          <a:spcPts val="790"/>
                        </a:spcBef>
                      </a:pP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Stat </a:t>
                      </a:r>
                      <a:r>
                        <a:rPr sz="1200" b="1" spc="-25" dirty="0">
                          <a:latin typeface="Calibri" panose="020F0502020204030204"/>
                          <a:cs typeface="Calibri" panose="020F0502020204030204"/>
                        </a:rPr>
                        <a:t>us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03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7874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Comment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7825">
                <a:tc vMerge="1">
                  <a:tcPr marL="0" marR="0" marT="1003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90">
                        <a:lnSpc>
                          <a:spcPts val="1405"/>
                        </a:lnSpc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Locks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ts val="1405"/>
                        </a:lnSpc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774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Stocks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405"/>
                        </a:lnSpc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Barrels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Commission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Commiss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b="1" spc="-25" dirty="0">
                          <a:latin typeface="Calibri" panose="020F0502020204030204"/>
                          <a:cs typeface="Calibri" panose="020F0502020204030204"/>
                        </a:rPr>
                        <a:t>ion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003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200" b="1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14300">
                        <a:lnSpc>
                          <a:spcPct val="102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within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range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for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lock,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stocks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barrels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35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40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45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3900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640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2412" y="1011682"/>
            <a:ext cx="140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Software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Testing</a:t>
            </a:r>
            <a:r>
              <a:rPr sz="1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Lab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47935" y="1011682"/>
            <a:ext cx="2895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" panose="02040503050406030204"/>
                <a:cs typeface="Cambria" panose="02040503050406030204"/>
              </a:rPr>
              <a:t>MIT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6824" y="1251457"/>
            <a:ext cx="9645650" cy="56515"/>
          </a:xfrm>
          <a:custGeom>
            <a:avLst/>
            <a:gdLst/>
            <a:ahLst/>
            <a:cxnLst/>
            <a:rect l="l" t="t" r="r" b="b"/>
            <a:pathLst>
              <a:path w="9645650" h="56515">
                <a:moveTo>
                  <a:pt x="9645396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9645396" y="56388"/>
                </a:lnTo>
                <a:lnTo>
                  <a:pt x="9645396" y="18288"/>
                </a:lnTo>
                <a:close/>
              </a:path>
              <a:path w="9645650" h="56515">
                <a:moveTo>
                  <a:pt x="9645396" y="0"/>
                </a:moveTo>
                <a:lnTo>
                  <a:pt x="0" y="0"/>
                </a:lnTo>
                <a:lnTo>
                  <a:pt x="0" y="9144"/>
                </a:lnTo>
                <a:lnTo>
                  <a:pt x="9645396" y="9144"/>
                </a:lnTo>
                <a:lnTo>
                  <a:pt x="9645396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96824" y="7159752"/>
            <a:ext cx="9645650" cy="56515"/>
          </a:xfrm>
          <a:custGeom>
            <a:avLst/>
            <a:gdLst/>
            <a:ahLst/>
            <a:cxnLst/>
            <a:rect l="l" t="t" r="r" b="b"/>
            <a:pathLst>
              <a:path w="9645650" h="56515">
                <a:moveTo>
                  <a:pt x="9645396" y="47244"/>
                </a:moveTo>
                <a:lnTo>
                  <a:pt x="0" y="47244"/>
                </a:lnTo>
                <a:lnTo>
                  <a:pt x="0" y="56388"/>
                </a:lnTo>
                <a:lnTo>
                  <a:pt x="9645396" y="56388"/>
                </a:lnTo>
                <a:lnTo>
                  <a:pt x="9645396" y="47244"/>
                </a:lnTo>
                <a:close/>
              </a:path>
              <a:path w="9645650" h="56515">
                <a:moveTo>
                  <a:pt x="9645396" y="0"/>
                </a:moveTo>
                <a:lnTo>
                  <a:pt x="0" y="0"/>
                </a:lnTo>
                <a:lnTo>
                  <a:pt x="0" y="38100"/>
                </a:lnTo>
                <a:lnTo>
                  <a:pt x="9645396" y="38100"/>
                </a:lnTo>
                <a:lnTo>
                  <a:pt x="9645396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985386" y="1313434"/>
            <a:ext cx="2400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Weak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Robustness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Equivalence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Class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9363" y="7217126"/>
            <a:ext cx="775970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Dept.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of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 ISE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89185" y="7217126"/>
            <a:ext cx="575945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Page</a:t>
            </a:r>
            <a:r>
              <a:rPr sz="1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22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97763" y="1545590"/>
          <a:ext cx="9654540" cy="3261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090"/>
                <a:gridCol w="2400935"/>
                <a:gridCol w="571500"/>
                <a:gridCol w="560704"/>
                <a:gridCol w="620395"/>
                <a:gridCol w="2525395"/>
                <a:gridCol w="1084579"/>
                <a:gridCol w="558800"/>
                <a:gridCol w="781050"/>
              </a:tblGrid>
              <a:tr h="215900">
                <a:tc rowSpan="2">
                  <a:txBody>
                    <a:bodyPr/>
                    <a:lstStyle/>
                    <a:p>
                      <a:pPr marL="170180" marR="80010" indent="-85725">
                        <a:lnSpc>
                          <a:spcPct val="102000"/>
                        </a:lnSpc>
                        <a:spcBef>
                          <a:spcPts val="60"/>
                        </a:spcBef>
                      </a:pP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Case </a:t>
                      </a:r>
                      <a:r>
                        <a:rPr sz="12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Description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5391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Input</a:t>
                      </a:r>
                      <a:r>
                        <a:rPr sz="12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Data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72644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Expected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Actual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Status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Comment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3040">
                <a:tc vMerge="1"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15"/>
                        </a:lnSpc>
                      </a:pP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Locks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15"/>
                        </a:lnSpc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Stocks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15"/>
                        </a:lnSpc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Barrels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WR1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65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locks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=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63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40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63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45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63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40" indent="-30480">
                        <a:lnSpc>
                          <a:spcPts val="1315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Terminates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input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loop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proceed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55040" marR="114935" indent="-838200">
                        <a:lnSpc>
                          <a:spcPts val="1380"/>
                        </a:lnSpc>
                        <a:spcBef>
                          <a:spcPts val="15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to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calculate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sales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commission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if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Sales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&gt;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0)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WR2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less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than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equal</a:t>
                      </a:r>
                      <a:r>
                        <a:rPr sz="1100" spc="2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zero</a:t>
                      </a:r>
                      <a:r>
                        <a:rPr sz="1100" b="1" spc="2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locks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other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valid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inputs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20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40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45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Value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Locks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range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1..70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WR3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349885">
                        <a:lnSpc>
                          <a:spcPct val="102000"/>
                        </a:lnSpc>
                        <a:spcBef>
                          <a:spcPts val="10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greater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than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70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for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locks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other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valid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inputs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71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40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45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Value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Locks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range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1..70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6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WR4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95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31445">
                        <a:lnSpc>
                          <a:spcPct val="102000"/>
                        </a:lnSpc>
                        <a:spcBef>
                          <a:spcPts val="8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less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than</a:t>
                      </a:r>
                      <a:r>
                        <a:rPr sz="11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equal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than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stocks and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other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valid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inputs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35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95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95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45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95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Value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stocks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range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1..80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95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36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WR5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49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349885">
                        <a:lnSpc>
                          <a:spcPts val="134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greater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than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80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for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stocks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other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valid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inputs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35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49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81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49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45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49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Value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stocks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range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1..80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49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6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WR6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24460">
                        <a:lnSpc>
                          <a:spcPct val="101000"/>
                        </a:lnSpc>
                        <a:spcBef>
                          <a:spcPts val="11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less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than</a:t>
                      </a:r>
                      <a:r>
                        <a:rPr sz="11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equal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for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barrels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other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valid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inputs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35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40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Value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Barrels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range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1..90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WR7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349885">
                        <a:lnSpc>
                          <a:spcPct val="102000"/>
                        </a:lnSpc>
                        <a:spcBef>
                          <a:spcPts val="10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greater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than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90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for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barrels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other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valid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inputs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35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40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91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Value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Barrels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range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1..90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954907" y="4965572"/>
            <a:ext cx="24593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Strong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Robustness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Equivalence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Class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97763" y="5196205"/>
          <a:ext cx="9654540" cy="1712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090"/>
                <a:gridCol w="2400935"/>
                <a:gridCol w="571500"/>
                <a:gridCol w="560704"/>
                <a:gridCol w="620395"/>
                <a:gridCol w="2525395"/>
                <a:gridCol w="1084579"/>
                <a:gridCol w="558800"/>
                <a:gridCol w="781050"/>
              </a:tblGrid>
              <a:tr h="207010">
                <a:tc rowSpan="2">
                  <a:txBody>
                    <a:bodyPr/>
                    <a:lstStyle/>
                    <a:p>
                      <a:pPr marL="170180" marR="80010" indent="-85725">
                        <a:lnSpc>
                          <a:spcPct val="102000"/>
                        </a:lnSpc>
                        <a:spcBef>
                          <a:spcPts val="85"/>
                        </a:spcBef>
                      </a:pP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Case </a:t>
                      </a:r>
                      <a:r>
                        <a:rPr sz="12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Description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66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5391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Input</a:t>
                      </a:r>
                      <a:r>
                        <a:rPr sz="12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Data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7264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Expected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66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Actual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66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Status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66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Comment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66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740">
                <a:tc vMerge="1"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066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Locks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Stocks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Barrels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066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066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066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066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SR1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less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than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locks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other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valid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inputs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40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45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Value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Locks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range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1..70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SR2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less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than</a:t>
                      </a:r>
                      <a:r>
                        <a:rPr sz="11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equal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than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stocks and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other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valid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inputs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35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45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Value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stocks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range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1..80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SR3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less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than</a:t>
                      </a:r>
                      <a:r>
                        <a:rPr sz="11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equal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barrels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other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valid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inputs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35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40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Value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Barrels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range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1..90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78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SR4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locks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stocks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less than</a:t>
                      </a:r>
                      <a:r>
                        <a:rPr sz="11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or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45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Value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Locks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range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1..70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2412" y="1011682"/>
            <a:ext cx="140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Software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Testing</a:t>
            </a:r>
            <a:r>
              <a:rPr sz="1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Lab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47935" y="1011682"/>
            <a:ext cx="2895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" panose="02040503050406030204"/>
                <a:cs typeface="Cambria" panose="02040503050406030204"/>
              </a:rPr>
              <a:t>MIT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6824" y="1251457"/>
            <a:ext cx="9645650" cy="56515"/>
          </a:xfrm>
          <a:custGeom>
            <a:avLst/>
            <a:gdLst/>
            <a:ahLst/>
            <a:cxnLst/>
            <a:rect l="l" t="t" r="r" b="b"/>
            <a:pathLst>
              <a:path w="9645650" h="56515">
                <a:moveTo>
                  <a:pt x="9645396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9645396" y="56388"/>
                </a:lnTo>
                <a:lnTo>
                  <a:pt x="9645396" y="18288"/>
                </a:lnTo>
                <a:close/>
              </a:path>
              <a:path w="9645650" h="56515">
                <a:moveTo>
                  <a:pt x="9645396" y="0"/>
                </a:moveTo>
                <a:lnTo>
                  <a:pt x="0" y="0"/>
                </a:lnTo>
                <a:lnTo>
                  <a:pt x="0" y="9144"/>
                </a:lnTo>
                <a:lnTo>
                  <a:pt x="9645396" y="9144"/>
                </a:lnTo>
                <a:lnTo>
                  <a:pt x="9645396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96824" y="7159752"/>
            <a:ext cx="9645650" cy="56515"/>
          </a:xfrm>
          <a:custGeom>
            <a:avLst/>
            <a:gdLst/>
            <a:ahLst/>
            <a:cxnLst/>
            <a:rect l="l" t="t" r="r" b="b"/>
            <a:pathLst>
              <a:path w="9645650" h="56515">
                <a:moveTo>
                  <a:pt x="9645396" y="47244"/>
                </a:moveTo>
                <a:lnTo>
                  <a:pt x="0" y="47244"/>
                </a:lnTo>
                <a:lnTo>
                  <a:pt x="0" y="56388"/>
                </a:lnTo>
                <a:lnTo>
                  <a:pt x="9645396" y="56388"/>
                </a:lnTo>
                <a:lnTo>
                  <a:pt x="9645396" y="47244"/>
                </a:lnTo>
                <a:close/>
              </a:path>
              <a:path w="9645650" h="56515">
                <a:moveTo>
                  <a:pt x="9645396" y="0"/>
                </a:moveTo>
                <a:lnTo>
                  <a:pt x="0" y="0"/>
                </a:lnTo>
                <a:lnTo>
                  <a:pt x="0" y="38100"/>
                </a:lnTo>
                <a:lnTo>
                  <a:pt x="9645396" y="38100"/>
                </a:lnTo>
                <a:lnTo>
                  <a:pt x="9645396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97763" y="1310894"/>
          <a:ext cx="9654540" cy="1949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090"/>
                <a:gridCol w="2400935"/>
                <a:gridCol w="571500"/>
                <a:gridCol w="560704"/>
                <a:gridCol w="620395"/>
                <a:gridCol w="2525395"/>
                <a:gridCol w="1084579"/>
                <a:gridCol w="558800"/>
                <a:gridCol w="781050"/>
              </a:tblGrid>
              <a:tr h="2813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50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equal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other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valid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inputs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Value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stocks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range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1..80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7965">
                <a:tc rowSpan="2"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SR5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68580" marR="175895">
                        <a:lnSpc>
                          <a:spcPct val="102000"/>
                        </a:lnSpc>
                        <a:spcBef>
                          <a:spcPts val="18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locks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barrel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less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than</a:t>
                      </a:r>
                      <a:r>
                        <a:rPr sz="11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or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equal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other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valid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inputs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40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Value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Locks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range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1..70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 vMerge="1"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3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Value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Barrels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range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1..90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4320">
                <a:tc rowSpan="2"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SR6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68580" marR="107950">
                        <a:lnSpc>
                          <a:spcPct val="102000"/>
                        </a:lnSpc>
                        <a:spcBef>
                          <a:spcPts val="36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stocks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barrel</a:t>
                      </a:r>
                      <a:r>
                        <a:rPr sz="11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less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than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 or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equal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other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valid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inputs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35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Value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stocks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range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1..80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4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 vMerge="1"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3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Value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Barrels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range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1..90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7804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003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SR7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44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8580" marR="107950">
                        <a:lnSpc>
                          <a:spcPct val="101000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stocks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barrel</a:t>
                      </a:r>
                      <a:r>
                        <a:rPr sz="11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less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than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 or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equal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other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valid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inputs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22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44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44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44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Value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Locks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range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1..70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 vMerge="1">
                  <a:tcPr marL="0" marR="0" marT="1244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622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244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244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244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Value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stocks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range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1..80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7505">
                <a:tc vMerge="1">
                  <a:tcPr marL="0" marR="0" marT="1244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622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244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244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244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Value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Barrels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range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1..90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99363" y="7217126"/>
            <a:ext cx="775970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Dept.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of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 ISE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89185" y="7217126"/>
            <a:ext cx="575945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Page</a:t>
            </a:r>
            <a:r>
              <a:rPr sz="1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23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51630" y="3419983"/>
            <a:ext cx="30651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Some</a:t>
            </a:r>
            <a:r>
              <a:rPr sz="12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addition</a:t>
            </a:r>
            <a:r>
              <a:rPr sz="12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equivalence</a:t>
            </a:r>
            <a:r>
              <a:rPr sz="12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Boundary</a:t>
            </a:r>
            <a:r>
              <a:rPr sz="12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checking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97763" y="3620134"/>
          <a:ext cx="9654540" cy="1973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090"/>
                <a:gridCol w="2400935"/>
                <a:gridCol w="571500"/>
                <a:gridCol w="560704"/>
                <a:gridCol w="620395"/>
                <a:gridCol w="914400"/>
                <a:gridCol w="1096009"/>
                <a:gridCol w="857884"/>
                <a:gridCol w="742315"/>
                <a:gridCol w="559434"/>
                <a:gridCol w="781684"/>
              </a:tblGrid>
              <a:tr h="207010">
                <a:tc rowSpan="2">
                  <a:txBody>
                    <a:bodyPr/>
                    <a:lstStyle/>
                    <a:p>
                      <a:pPr marL="158115" marR="70485" indent="-83820">
                        <a:lnSpc>
                          <a:spcPts val="1380"/>
                        </a:lnSpc>
                        <a:spcBef>
                          <a:spcPts val="1045"/>
                        </a:spcBef>
                      </a:pP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Case </a:t>
                      </a:r>
                      <a:r>
                        <a:rPr sz="1200" b="1" spc="-25" dirty="0">
                          <a:latin typeface="Times New Roman" panose="02020603050405020304"/>
                          <a:cs typeface="Times New Roman" panose="02020603050405020304"/>
                        </a:rPr>
                        <a:t>Id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2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Description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5391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Input</a:t>
                      </a:r>
                      <a:r>
                        <a:rPr sz="12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Data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692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Expected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6258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Actual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6400">
                <a:tc vMerge="1">
                  <a:tcPr marL="0" marR="0" marT="132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 marR="83820" indent="20955">
                        <a:lnSpc>
                          <a:spcPts val="1380"/>
                        </a:lnSpc>
                        <a:spcBef>
                          <a:spcPts val="215"/>
                        </a:spcBef>
                      </a:pP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Total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Locks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60960" indent="38100">
                        <a:lnSpc>
                          <a:spcPts val="1380"/>
                        </a:lnSpc>
                        <a:spcBef>
                          <a:spcPts val="215"/>
                        </a:spcBef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Total Stocks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62865" indent="66675">
                        <a:lnSpc>
                          <a:spcPts val="1380"/>
                        </a:lnSpc>
                        <a:spcBef>
                          <a:spcPts val="215"/>
                        </a:spcBef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Total Barrels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Sales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Commission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Sales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970" marR="66040" indent="-200025">
                        <a:lnSpc>
                          <a:spcPts val="1380"/>
                        </a:lnSpc>
                        <a:spcBef>
                          <a:spcPts val="215"/>
                        </a:spcBef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Commiss </a:t>
                      </a:r>
                      <a:r>
                        <a:rPr sz="1200" b="1" spc="-25" dirty="0">
                          <a:latin typeface="Times New Roman" panose="02020603050405020304"/>
                          <a:cs typeface="Times New Roman" panose="02020603050405020304"/>
                        </a:rPr>
                        <a:t>ion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Status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Comment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OR1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350520">
                        <a:lnSpc>
                          <a:spcPts val="1270"/>
                        </a:lnSpc>
                        <a:spcBef>
                          <a:spcPts val="495"/>
                        </a:spcBef>
                      </a:pP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Enter</a:t>
                      </a:r>
                      <a:r>
                        <a:rPr sz="11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1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value</a:t>
                      </a:r>
                      <a:r>
                        <a:rPr sz="11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11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lock, stocks</a:t>
                      </a:r>
                      <a:r>
                        <a:rPr sz="11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spc="-2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barrels</a:t>
                      </a:r>
                      <a:r>
                        <a:rPr sz="11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where</a:t>
                      </a:r>
                      <a:r>
                        <a:rPr sz="11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r>
                        <a:rPr sz="11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&lt;</a:t>
                      </a:r>
                      <a:r>
                        <a:rPr sz="11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Sales</a:t>
                      </a:r>
                      <a:r>
                        <a:rPr sz="11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&lt;</a:t>
                      </a:r>
                      <a:r>
                        <a:rPr sz="11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spc="-20" dirty="0">
                          <a:latin typeface="Times New Roman" panose="02020603050405020304"/>
                          <a:cs typeface="Times New Roman" panose="02020603050405020304"/>
                        </a:rPr>
                        <a:t>1000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28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500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50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OR2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350520">
                        <a:lnSpc>
                          <a:spcPts val="1270"/>
                        </a:lnSpc>
                        <a:spcBef>
                          <a:spcPts val="505"/>
                        </a:spcBef>
                      </a:pP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Enter</a:t>
                      </a:r>
                      <a:r>
                        <a:rPr sz="11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1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value</a:t>
                      </a:r>
                      <a:r>
                        <a:rPr sz="11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11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lock, stocks</a:t>
                      </a:r>
                      <a:r>
                        <a:rPr sz="11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spc="-2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barrels</a:t>
                      </a:r>
                      <a:r>
                        <a:rPr sz="11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where</a:t>
                      </a:r>
                      <a:r>
                        <a:rPr sz="11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1000</a:t>
                      </a:r>
                      <a:r>
                        <a:rPr sz="11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&lt;</a:t>
                      </a:r>
                      <a:r>
                        <a:rPr sz="11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Sales</a:t>
                      </a:r>
                      <a:r>
                        <a:rPr sz="11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&lt;</a:t>
                      </a:r>
                      <a:r>
                        <a:rPr sz="11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spc="-20" dirty="0">
                          <a:latin typeface="Times New Roman" panose="02020603050405020304"/>
                          <a:cs typeface="Times New Roman" panose="02020603050405020304"/>
                        </a:rPr>
                        <a:t>1800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41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15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15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15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1500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175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OR3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350520">
                        <a:lnSpc>
                          <a:spcPts val="1260"/>
                        </a:lnSpc>
                        <a:spcBef>
                          <a:spcPts val="520"/>
                        </a:spcBef>
                      </a:pP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Enter</a:t>
                      </a:r>
                      <a:r>
                        <a:rPr sz="11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1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value</a:t>
                      </a:r>
                      <a:r>
                        <a:rPr sz="11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11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lock, stocks</a:t>
                      </a:r>
                      <a:r>
                        <a:rPr sz="11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spc="-2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barrels</a:t>
                      </a:r>
                      <a:r>
                        <a:rPr sz="11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where</a:t>
                      </a:r>
                      <a:r>
                        <a:rPr sz="1100" spc="2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Sales</a:t>
                      </a:r>
                      <a:r>
                        <a:rPr sz="11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100" dirty="0">
                          <a:latin typeface="Times New Roman" panose="02020603050405020304"/>
                          <a:cs typeface="Times New Roman" panose="02020603050405020304"/>
                        </a:rPr>
                        <a:t>&lt; </a:t>
                      </a:r>
                      <a:r>
                        <a:rPr sz="1100" spc="-20" dirty="0">
                          <a:latin typeface="Times New Roman" panose="02020603050405020304"/>
                          <a:cs typeface="Times New Roman" panose="02020603050405020304"/>
                        </a:rPr>
                        <a:t>1800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25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25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25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2500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360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9412" y="492251"/>
            <a:ext cx="6036310" cy="56515"/>
          </a:xfrm>
          <a:custGeom>
            <a:avLst/>
            <a:gdLst/>
            <a:ahLst/>
            <a:cxnLst/>
            <a:rect l="l" t="t" r="r" b="b"/>
            <a:pathLst>
              <a:path w="6036309" h="56515">
                <a:moveTo>
                  <a:pt x="6036310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6036310" y="56388"/>
                </a:lnTo>
                <a:lnTo>
                  <a:pt x="6036310" y="18288"/>
                </a:lnTo>
                <a:close/>
              </a:path>
              <a:path w="6036309" h="56515">
                <a:moveTo>
                  <a:pt x="6036310" y="0"/>
                </a:moveTo>
                <a:lnTo>
                  <a:pt x="0" y="0"/>
                </a:lnTo>
                <a:lnTo>
                  <a:pt x="0" y="9144"/>
                </a:lnTo>
                <a:lnTo>
                  <a:pt x="6036310" y="9144"/>
                </a:lnTo>
                <a:lnTo>
                  <a:pt x="6036310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35000" y="181056"/>
            <a:ext cx="6024880" cy="95497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5720" algn="just">
              <a:lnSpc>
                <a:spcPct val="100000"/>
              </a:lnSpc>
              <a:spcBef>
                <a:spcPts val="675"/>
              </a:spcBef>
              <a:tabLst>
                <a:tab pos="5692140" algn="l"/>
              </a:tabLst>
            </a:pPr>
            <a:r>
              <a:rPr sz="1200" dirty="0">
                <a:latin typeface="Cambria" panose="02040503050406030204"/>
                <a:cs typeface="Cambria" panose="02040503050406030204"/>
              </a:rPr>
              <a:t>Software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Testing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Lab</a:t>
            </a:r>
            <a:r>
              <a:rPr sz="1200" dirty="0">
                <a:latin typeface="Cambria" panose="02040503050406030204"/>
                <a:cs typeface="Cambria" panose="02040503050406030204"/>
              </a:rPr>
              <a:t>	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MIT</a:t>
            </a:r>
            <a:endParaRPr sz="1200">
              <a:latin typeface="Cambria" panose="02040503050406030204"/>
              <a:cs typeface="Cambria" panose="02040503050406030204"/>
            </a:endParaRPr>
          </a:p>
          <a:p>
            <a:pPr marL="12700" marR="5080" algn="just">
              <a:lnSpc>
                <a:spcPts val="1620"/>
              </a:lnSpc>
              <a:spcBef>
                <a:spcPts val="780"/>
              </a:spcBef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1400" b="1" spc="3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6</a:t>
            </a:r>
            <a:r>
              <a:rPr sz="1400" b="1" spc="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40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1400" b="1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Decision</a:t>
            </a:r>
            <a:r>
              <a:rPr sz="1400" b="1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400" b="1" spc="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Case</a:t>
            </a:r>
            <a:r>
              <a:rPr sz="1400" b="1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4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Problem)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 marR="6350" algn="just">
              <a:lnSpc>
                <a:spcPts val="1380"/>
              </a:lnSpc>
              <a:spcBef>
                <a:spcPts val="670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/*</a:t>
            </a:r>
            <a:r>
              <a:rPr sz="1200" b="1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Design,</a:t>
            </a:r>
            <a:r>
              <a:rPr sz="1200" b="1" spc="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develop,</a:t>
            </a:r>
            <a:r>
              <a:rPr sz="1200" b="1" spc="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1200" b="1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b="1" spc="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run</a:t>
            </a:r>
            <a:r>
              <a:rPr sz="1200" b="1" spc="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b="1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1200" b="1" spc="3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b="1" spc="3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any</a:t>
            </a:r>
            <a:r>
              <a:rPr sz="1200" b="1" spc="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suitable</a:t>
            </a:r>
            <a:r>
              <a:rPr sz="1200" b="1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language</a:t>
            </a:r>
            <a:r>
              <a:rPr sz="1200" b="1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b="1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solve</a:t>
            </a:r>
            <a:r>
              <a:rPr sz="1200" b="1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b="1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problem.</a:t>
            </a:r>
            <a:r>
              <a:rPr sz="1200" b="1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Analyze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1200" b="1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perspective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b="1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200" b="1" spc="85" dirty="0">
                <a:latin typeface="Times New Roman" panose="02020603050405020304"/>
                <a:cs typeface="Times New Roman" panose="02020603050405020304"/>
              </a:rPr>
              <a:t>Decision test case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derive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cases,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execute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these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cases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discuss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results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*/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 marR="5715" algn="just">
              <a:lnSpc>
                <a:spcPct val="110000"/>
              </a:lnSpc>
              <a:spcBef>
                <a:spcPts val="1180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/*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Assumption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price</a:t>
            </a:r>
            <a:r>
              <a:rPr sz="1200" b="1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b="1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lock=45.0,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stock=30.0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b="1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barrels=25.0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production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limit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could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sell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in a month 70 locks,80</a:t>
            </a:r>
            <a:r>
              <a:rPr sz="12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stocks and 90 barrels</a:t>
            </a:r>
            <a:r>
              <a:rPr sz="1200" b="1" spc="3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on sales = 10 %</a:t>
            </a:r>
            <a:r>
              <a:rPr sz="12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&lt;= 1000 and 15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50" dirty="0">
                <a:latin typeface="Times New Roman" panose="02020603050405020304"/>
                <a:cs typeface="Times New Roman" panose="02020603050405020304"/>
              </a:rPr>
              <a:t>%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200" b="1" spc="2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1000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1800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and 20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%</a:t>
            </a:r>
            <a:r>
              <a:rPr sz="12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above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1800*/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 marR="4897120">
              <a:lnSpc>
                <a:spcPts val="1380"/>
              </a:lnSpc>
              <a:spcBef>
                <a:spcPts val="1210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#include&lt;stdio.h&gt;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main()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1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 marR="2562225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locks,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stocks,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barrels,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tlocks,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tstocks,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tbarrels;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float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lprice,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sprice,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bprice,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sales,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comm;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 marR="445516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c1,c2,c3,temp; lprice=45.0; sprice=30.0; bprice=25.0; tlocks=0; tstocks=0; tbarrels=0;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 marR="847090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printf("\nenter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exit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loop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locks\n"); scanf("%d",&amp;locks);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1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while(locks!=-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1)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7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c1=(locks&lt;=0||locks&gt;70);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 marR="2035810">
              <a:lnSpc>
                <a:spcPts val="1380"/>
              </a:lnSpc>
              <a:spcBef>
                <a:spcPts val="70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printf("enter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stocks and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barrels\n"); scanf("%d%d",&amp;stocks,&amp;barrels); c2=(stocks&lt;=0||stocks&gt;80); c3=(barrels&lt;=0||barrels&gt;90);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15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if(c1)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printf("value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range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1..70</a:t>
            </a:r>
            <a:r>
              <a:rPr sz="120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");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0033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 marR="3428365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temp=tlocks+locks; if(temp&gt;70)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842135">
              <a:lnSpc>
                <a:spcPts val="1315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printf("new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=%d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range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1..70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old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",temp);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80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842135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tlocks=temp;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0795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41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printf("total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%d\n",tlocks);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410"/>
              </a:lnSpc>
              <a:spcBef>
                <a:spcPts val="1320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if(c2)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printf("value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stocks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range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1..80</a:t>
            </a:r>
            <a:r>
              <a:rPr sz="12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");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003300">
              <a:lnSpc>
                <a:spcPts val="141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 marR="3309620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temp=tstocks+stocks; if(temp&gt;80)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 marR="48387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printf("new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stocks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=%d</a:t>
            </a:r>
            <a:r>
              <a:rPr sz="12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range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1..80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old</a:t>
            </a:r>
            <a:r>
              <a:rPr sz="1200" spc="13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",temp);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9412" y="9963911"/>
            <a:ext cx="6036310" cy="56515"/>
          </a:xfrm>
          <a:custGeom>
            <a:avLst/>
            <a:gdLst/>
            <a:ahLst/>
            <a:cxnLst/>
            <a:rect l="l" t="t" r="r" b="b"/>
            <a:pathLst>
              <a:path w="6036309" h="56515">
                <a:moveTo>
                  <a:pt x="6036310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6036310" y="56388"/>
                </a:lnTo>
                <a:lnTo>
                  <a:pt x="6036310" y="47256"/>
                </a:lnTo>
                <a:close/>
              </a:path>
              <a:path w="6036309" h="56515">
                <a:moveTo>
                  <a:pt x="6036310" y="0"/>
                </a:moveTo>
                <a:lnTo>
                  <a:pt x="0" y="0"/>
                </a:lnTo>
                <a:lnTo>
                  <a:pt x="0" y="38100"/>
                </a:lnTo>
                <a:lnTo>
                  <a:pt x="6036310" y="38100"/>
                </a:lnTo>
                <a:lnTo>
                  <a:pt x="6036310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25" dirty="0"/>
              <a:t>ISE</a:t>
            </a:r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Page </a:t>
            </a:r>
            <a:r>
              <a:rPr spc="-25" dirty="0"/>
              <a:t>16</a:t>
            </a:r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8527" y="254000"/>
            <a:ext cx="140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Software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Testing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Lab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14694" y="254000"/>
            <a:ext cx="2895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" panose="02040503050406030204"/>
                <a:cs typeface="Cambria" panose="02040503050406030204"/>
              </a:rPr>
              <a:t>MIT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9412" y="492251"/>
            <a:ext cx="6036310" cy="56515"/>
          </a:xfrm>
          <a:custGeom>
            <a:avLst/>
            <a:gdLst/>
            <a:ahLst/>
            <a:cxnLst/>
            <a:rect l="l" t="t" r="r" b="b"/>
            <a:pathLst>
              <a:path w="6036309" h="56515">
                <a:moveTo>
                  <a:pt x="6036310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6036310" y="56388"/>
                </a:lnTo>
                <a:lnTo>
                  <a:pt x="6036310" y="18288"/>
                </a:lnTo>
                <a:close/>
              </a:path>
              <a:path w="6036309" h="56515">
                <a:moveTo>
                  <a:pt x="6036310" y="0"/>
                </a:moveTo>
                <a:lnTo>
                  <a:pt x="0" y="0"/>
                </a:lnTo>
                <a:lnTo>
                  <a:pt x="0" y="9144"/>
                </a:lnTo>
                <a:lnTo>
                  <a:pt x="6036310" y="9144"/>
                </a:lnTo>
                <a:lnTo>
                  <a:pt x="6036310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29412" y="9963911"/>
            <a:ext cx="6036310" cy="56515"/>
          </a:xfrm>
          <a:custGeom>
            <a:avLst/>
            <a:gdLst/>
            <a:ahLst/>
            <a:cxnLst/>
            <a:rect l="l" t="t" r="r" b="b"/>
            <a:pathLst>
              <a:path w="6036309" h="56515">
                <a:moveTo>
                  <a:pt x="6036310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6036310" y="56388"/>
                </a:lnTo>
                <a:lnTo>
                  <a:pt x="6036310" y="47256"/>
                </a:lnTo>
                <a:close/>
              </a:path>
              <a:path w="6036309" h="56515">
                <a:moveTo>
                  <a:pt x="6036310" y="0"/>
                </a:moveTo>
                <a:lnTo>
                  <a:pt x="0" y="0"/>
                </a:lnTo>
                <a:lnTo>
                  <a:pt x="0" y="38100"/>
                </a:lnTo>
                <a:lnTo>
                  <a:pt x="6036310" y="38100"/>
                </a:lnTo>
                <a:lnTo>
                  <a:pt x="6036310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35000" y="520700"/>
            <a:ext cx="5986145" cy="7745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0">
              <a:lnSpc>
                <a:spcPts val="1410"/>
              </a:lnSpc>
              <a:spcBef>
                <a:spcPts val="100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tstocks=temp;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0033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41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printf("total</a:t>
            </a:r>
            <a:r>
              <a:rPr sz="1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stocks=%d\n",tstocks);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410"/>
              </a:lnSpc>
              <a:spcBef>
                <a:spcPts val="1320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if(c3)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printf("value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range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1..90</a:t>
            </a:r>
            <a:r>
              <a:rPr sz="120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");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0033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 marR="3204210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temp=tbarrels+barrels; if(temp&gt;90)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 marR="52451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printf("new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barrels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=%d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range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1..90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old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",temp);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15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tbarrels=temp;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0414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printf("total</a:t>
            </a:r>
            <a:r>
              <a:rPr sz="1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barrel=%d",tbarrels);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 marR="351155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printf("\nenter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exit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loop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locks\n"); scanf("%d",&amp;locks);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1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 marR="5080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printf("\ntotal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%d\ntotal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=%d\ntotal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barrels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=%d\n",tlocks,tstocks,tbarrels);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sales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lprice*tlocks+sprice*tstocks+bprice*tbarrels;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45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printf("\nthe</a:t>
            </a:r>
            <a:r>
              <a:rPr sz="1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sales=%f\n",sales);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410"/>
              </a:lnSpc>
              <a:spcBef>
                <a:spcPts val="1320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if(tlocks&gt;0&amp;&amp;tstocks&gt;0&amp;&amp;tbarrels&gt;0)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if(sales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&gt;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1800.0)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comm=0.10*1000.0;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 marR="2407920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comm=comm+0.15*800; comm=comm+0.20*(sales-1800.0);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1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else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if(sales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&gt;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1000)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 marR="2522220">
              <a:lnSpc>
                <a:spcPts val="1380"/>
              </a:lnSpc>
              <a:spcBef>
                <a:spcPts val="7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comm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=0.10*1000; comm=comm+0.15*(sales-1000);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1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41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comm=0.10*sales;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410"/>
              </a:lnSpc>
              <a:spcBef>
                <a:spcPts val="132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printf("the</a:t>
            </a:r>
            <a:r>
              <a:rPr sz="1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is=%f\n",comm);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80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 marR="2196465" indent="456565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</a:t>
            </a: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cannot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calculated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\n");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0;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4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25" dirty="0"/>
              <a:t>ISE</a:t>
            </a:r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Page </a:t>
            </a:r>
            <a:r>
              <a:rPr spc="-25" dirty="0"/>
              <a:t>17</a:t>
            </a:r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6"/>
          <p:cNvSpPr txBox="1"/>
          <p:nvPr/>
        </p:nvSpPr>
        <p:spPr>
          <a:xfrm>
            <a:off x="563372" y="1424686"/>
            <a:ext cx="7078345" cy="15290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p>
            <a:pPr marL="12700" marR="2656205">
              <a:lnSpc>
                <a:spcPts val="1610"/>
              </a:lnSpc>
              <a:spcBef>
                <a:spcPts val="215"/>
              </a:spcBef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4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Case</a:t>
            </a:r>
            <a:r>
              <a:rPr sz="14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Name</a:t>
            </a:r>
            <a:r>
              <a:rPr sz="14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:Decision</a:t>
            </a:r>
            <a:r>
              <a:rPr sz="14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Table</a:t>
            </a:r>
            <a:r>
              <a:rPr sz="14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4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4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Problem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Experiment</a:t>
            </a:r>
            <a:r>
              <a:rPr sz="14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4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50" dirty="0">
                <a:latin typeface="Times New Roman" panose="02020603050405020304"/>
                <a:cs typeface="Times New Roman" panose="02020603050405020304"/>
              </a:rPr>
              <a:t>7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280"/>
              </a:lnSpc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price</a:t>
            </a:r>
            <a:r>
              <a:rPr sz="12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45.0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30.0 and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 -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25.0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62230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sales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*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price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*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price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*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price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62230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10%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up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sales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1000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15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%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next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800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20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%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any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sales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excess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1800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Pre-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condition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b="1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exit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1&lt;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=lock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&lt;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70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1&lt;=stock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&lt;=80 and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1&lt;=barrel&lt;=90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405"/>
              </a:lnSpc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Brief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Description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salesperson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had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sell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least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one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complete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rifle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per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month.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3227070">
              <a:lnSpc>
                <a:spcPts val="1675"/>
              </a:lnSpc>
            </a:pPr>
            <a:r>
              <a:rPr sz="1400" b="1" dirty="0">
                <a:latin typeface="Calibri" panose="020F0502020204030204"/>
                <a:cs typeface="Calibri" panose="020F0502020204030204"/>
              </a:rPr>
              <a:t>Input</a:t>
            </a:r>
            <a:r>
              <a:rPr sz="14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latin typeface="Calibri" panose="020F0502020204030204"/>
                <a:cs typeface="Calibri" panose="020F0502020204030204"/>
              </a:rPr>
              <a:t>data</a:t>
            </a:r>
            <a:r>
              <a:rPr sz="14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latin typeface="Calibri" panose="020F0502020204030204"/>
                <a:cs typeface="Calibri" panose="020F0502020204030204"/>
              </a:rPr>
              <a:t>decision</a:t>
            </a:r>
            <a:r>
              <a:rPr sz="14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20" dirty="0">
                <a:latin typeface="Calibri" panose="020F0502020204030204"/>
                <a:cs typeface="Calibri" panose="020F0502020204030204"/>
              </a:rPr>
              <a:t>Table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99745" y="2954020"/>
          <a:ext cx="8441055" cy="2386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4735"/>
                <a:gridCol w="3848735"/>
                <a:gridCol w="410210"/>
                <a:gridCol w="367665"/>
                <a:gridCol w="311150"/>
                <a:gridCol w="325120"/>
                <a:gridCol w="415290"/>
                <a:gridCol w="315595"/>
                <a:gridCol w="484505"/>
                <a:gridCol w="449580"/>
                <a:gridCol w="458470"/>
              </a:tblGrid>
              <a:tr h="344170">
                <a:tc gridSpan="2">
                  <a:txBody>
                    <a:bodyPr/>
                    <a:p>
                      <a:pPr marL="73025">
                        <a:lnSpc>
                          <a:spcPts val="1265"/>
                        </a:lnSpc>
                      </a:pPr>
                      <a:r>
                        <a:rPr sz="1100" b="1" spc="-10" dirty="0">
                          <a:latin typeface="Times New Roman" panose="02020603050405020304"/>
                          <a:cs typeface="Times New Roman" panose="02020603050405020304"/>
                        </a:rPr>
                        <a:t>RULES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p>
                      <a:pPr marL="71120">
                        <a:lnSpc>
                          <a:spcPts val="1265"/>
                        </a:lnSpc>
                      </a:pPr>
                      <a:r>
                        <a:rPr sz="1100" b="1" spc="-25" dirty="0">
                          <a:latin typeface="Times New Roman" panose="02020603050405020304"/>
                          <a:cs typeface="Times New Roman" panose="02020603050405020304"/>
                        </a:rPr>
                        <a:t>R1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65"/>
                        </a:lnSpc>
                      </a:pPr>
                      <a:r>
                        <a:rPr sz="1100" b="1" spc="-25" dirty="0">
                          <a:latin typeface="Times New Roman" panose="02020603050405020304"/>
                          <a:cs typeface="Times New Roman" panose="02020603050405020304"/>
                        </a:rPr>
                        <a:t>R2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 marR="128270">
                        <a:lnSpc>
                          <a:spcPts val="1260"/>
                        </a:lnSpc>
                      </a:pPr>
                      <a:r>
                        <a:rPr sz="1100" b="1" spc="-50" dirty="0">
                          <a:latin typeface="Times New Roman" panose="02020603050405020304"/>
                          <a:cs typeface="Times New Roman" panose="02020603050405020304"/>
                        </a:rPr>
                        <a:t>R 3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265"/>
                        </a:lnSpc>
                      </a:pPr>
                      <a:r>
                        <a:rPr sz="1100" b="1" spc="-25" dirty="0">
                          <a:latin typeface="Times New Roman" panose="02020603050405020304"/>
                          <a:cs typeface="Times New Roman" panose="02020603050405020304"/>
                        </a:rPr>
                        <a:t>R4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65"/>
                        </a:lnSpc>
                      </a:pPr>
                      <a:r>
                        <a:rPr sz="1100" b="1" spc="-25" dirty="0">
                          <a:latin typeface="Times New Roman" panose="02020603050405020304"/>
                          <a:cs typeface="Times New Roman" panose="02020603050405020304"/>
                        </a:rPr>
                        <a:t>R5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 marR="134620">
                        <a:lnSpc>
                          <a:spcPts val="1260"/>
                        </a:lnSpc>
                      </a:pPr>
                      <a:r>
                        <a:rPr sz="1100" b="1" spc="-50" dirty="0">
                          <a:latin typeface="Times New Roman" panose="02020603050405020304"/>
                          <a:cs typeface="Times New Roman" panose="02020603050405020304"/>
                        </a:rPr>
                        <a:t>R 6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65"/>
                        </a:lnSpc>
                      </a:pPr>
                      <a:r>
                        <a:rPr sz="1100" b="1" spc="-25" dirty="0">
                          <a:latin typeface="Times New Roman" panose="02020603050405020304"/>
                          <a:cs typeface="Times New Roman" panose="02020603050405020304"/>
                        </a:rPr>
                        <a:t>R7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65"/>
                        </a:lnSpc>
                      </a:pPr>
                      <a:r>
                        <a:rPr sz="1100" b="1" spc="-25" dirty="0">
                          <a:latin typeface="Times New Roman" panose="02020603050405020304"/>
                          <a:cs typeface="Times New Roman" panose="02020603050405020304"/>
                        </a:rPr>
                        <a:t>R8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65"/>
                        </a:lnSpc>
                      </a:pPr>
                      <a:r>
                        <a:rPr sz="1100" b="1" spc="-25" dirty="0">
                          <a:latin typeface="Times New Roman" panose="02020603050405020304"/>
                          <a:cs typeface="Times New Roman" panose="02020603050405020304"/>
                        </a:rPr>
                        <a:t>R10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5420">
                <a:tc rowSpan="4">
                  <a:txBody>
                    <a:bodyPr/>
                    <a:p>
                      <a:pPr marL="73025">
                        <a:lnSpc>
                          <a:spcPts val="1275"/>
                        </a:lnSpc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Conditions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C1: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Locks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=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R="92710" algn="ctr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5420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C2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r>
                        <a:rPr sz="1100" spc="2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≤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Locks</a:t>
                      </a:r>
                      <a:r>
                        <a:rPr sz="1100" spc="229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≤</a:t>
                      </a:r>
                      <a:r>
                        <a:rPr sz="1100" spc="2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70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R="92710" algn="ctr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6055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80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C3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r>
                        <a:rPr sz="1100" spc="2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≤</a:t>
                      </a:r>
                      <a:r>
                        <a:rPr sz="1100" spc="2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Stocks</a:t>
                      </a:r>
                      <a:r>
                        <a:rPr sz="1100" spc="229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≤</a:t>
                      </a:r>
                      <a:r>
                        <a:rPr sz="1100" spc="2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80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R="84455" algn="ctr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5420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C4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r>
                        <a:rPr sz="1100" spc="229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≤</a:t>
                      </a:r>
                      <a:r>
                        <a:rPr sz="1100" spc="2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Barrels</a:t>
                      </a:r>
                      <a:r>
                        <a:rPr sz="1100" spc="2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≤</a:t>
                      </a:r>
                      <a:r>
                        <a:rPr sz="1100" spc="2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90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R="84455" algn="ctr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6055">
                <a:tc rowSpan="7">
                  <a:txBody>
                    <a:bodyPr/>
                    <a:p>
                      <a:pPr marL="73025">
                        <a:lnSpc>
                          <a:spcPts val="1275"/>
                        </a:lnSpc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Actions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a1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Terminate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input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loop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5420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a2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Invalid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locks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input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R="69215" algn="ctr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5420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a3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Invalid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stocks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input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6055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a4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Invalid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barrels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input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5420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a5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Calculate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locks,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stocks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barrels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R="69215" algn="ctr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6055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a5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Calculate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6055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a6: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proceed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commission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decision</a:t>
                      </a:r>
                      <a:r>
                        <a:rPr sz="11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table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307846" y="5422773"/>
            <a:ext cx="47910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4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calculation</a:t>
            </a:r>
            <a:r>
              <a:rPr sz="1400" b="1" spc="2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Decision</a:t>
            </a:r>
            <a:r>
              <a:rPr sz="14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Table</a:t>
            </a:r>
            <a:r>
              <a:rPr sz="1400" b="1" spc="4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(Precondition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lock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1)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63371" y="5803646"/>
          <a:ext cx="6398895" cy="1565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4735"/>
                <a:gridCol w="3848735"/>
                <a:gridCol w="410210"/>
                <a:gridCol w="367664"/>
                <a:gridCol w="311150"/>
                <a:gridCol w="325120"/>
              </a:tblGrid>
              <a:tr h="152400">
                <a:tc gridSpan="2">
                  <a:txBody>
                    <a:bodyPr/>
                    <a:p>
                      <a:pPr marL="73025">
                        <a:lnSpc>
                          <a:spcPts val="1100"/>
                        </a:lnSpc>
                      </a:pPr>
                      <a:r>
                        <a:rPr sz="1000" b="1" spc="-10" dirty="0">
                          <a:latin typeface="Times New Roman" panose="02020603050405020304"/>
                          <a:cs typeface="Times New Roman" panose="02020603050405020304"/>
                        </a:rPr>
                        <a:t>RULES</a:t>
                      </a: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1000" b="1" spc="-25" dirty="0">
                          <a:latin typeface="Times New Roman" panose="02020603050405020304"/>
                          <a:cs typeface="Times New Roman" panose="02020603050405020304"/>
                        </a:rPr>
                        <a:t>R1</a:t>
                      </a: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1000" b="1" spc="-25" dirty="0">
                          <a:latin typeface="Times New Roman" panose="02020603050405020304"/>
                          <a:cs typeface="Times New Roman" panose="02020603050405020304"/>
                        </a:rPr>
                        <a:t>R2</a:t>
                      </a: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1000" b="1" spc="-25" dirty="0">
                          <a:latin typeface="Times New Roman" panose="02020603050405020304"/>
                          <a:cs typeface="Times New Roman" panose="02020603050405020304"/>
                        </a:rPr>
                        <a:t>R3</a:t>
                      </a: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1000" b="1" spc="-25" dirty="0">
                          <a:latin typeface="Times New Roman" panose="02020603050405020304"/>
                          <a:cs typeface="Times New Roman" panose="02020603050405020304"/>
                        </a:rPr>
                        <a:t>R4</a:t>
                      </a: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 rowSpan="4"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438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Condition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8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C1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tlocks&gt;0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&amp;&amp;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tstocks&gt;0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&amp;&amp;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tbarrels&gt;0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 vMerge="1">
                  <a:tcPr marL="0" marR="0" marT="98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C1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&gt;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AND Sales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≤</a:t>
                      </a:r>
                      <a:r>
                        <a:rPr sz="1100" spc="229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1000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1750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 vMerge="1">
                  <a:tcPr marL="0" marR="0" marT="98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C2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r>
                        <a:rPr sz="1100" spc="2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&gt;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1001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≤</a:t>
                      </a:r>
                      <a:r>
                        <a:rPr sz="1100" spc="229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1800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1750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 vMerge="1">
                  <a:tcPr marL="0" marR="0" marT="98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C3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≥1801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365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T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 rowSpan="4"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051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Actions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90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A1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Cannot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calculate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commission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R="26670" algn="ctr">
                        <a:lnSpc>
                          <a:spcPts val="129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 vMerge="1">
                  <a:tcPr marL="0" marR="0" marT="990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80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A2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comm=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10%*sales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2385" algn="ctr">
                        <a:lnSpc>
                          <a:spcPts val="129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 vMerge="1">
                  <a:tcPr marL="0" marR="0" marT="990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A3 :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comm =</a:t>
                      </a:r>
                      <a:r>
                        <a:rPr sz="1100" spc="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10%*1000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 +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(sales-1000)*15%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2385" algn="ctr">
                        <a:lnSpc>
                          <a:spcPts val="129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800">
                <a:tc vMerge="1">
                  <a:tcPr marL="0" marR="0" marT="990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275"/>
                        </a:lnSpc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A4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comm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=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10%*1000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+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15%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*</a:t>
                      </a:r>
                      <a:r>
                        <a:rPr sz="11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800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+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(sales-1800)*20%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6350" algn="ctr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6"/>
          <p:cNvSpPr txBox="1"/>
          <p:nvPr/>
        </p:nvSpPr>
        <p:spPr>
          <a:xfrm>
            <a:off x="398779" y="1657858"/>
            <a:ext cx="7357109" cy="9220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2425065">
              <a:lnSpc>
                <a:spcPts val="1410"/>
              </a:lnSpc>
              <a:spcBef>
                <a:spcPts val="100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Problem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-Decision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Table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cases</a:t>
            </a:r>
            <a:r>
              <a:rPr sz="12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calculation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 marR="6776720">
              <a:lnSpc>
                <a:spcPts val="1380"/>
              </a:lnSpc>
              <a:spcBef>
                <a:spcPts val="65"/>
              </a:spcBef>
            </a:pP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L-locks S-Stocks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45"/>
              </a:lnSpc>
            </a:pP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B-Barrels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Precondition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200" b="1" spc="-50" dirty="0">
                <a:latin typeface="Times New Roman" panose="02020603050405020304"/>
                <a:cs typeface="Times New Roman" panose="02020603050405020304"/>
              </a:rPr>
              <a:t>1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36804" y="2583814"/>
          <a:ext cx="9974580" cy="2688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090"/>
                <a:gridCol w="1764030"/>
                <a:gridCol w="421639"/>
                <a:gridCol w="421005"/>
                <a:gridCol w="422275"/>
                <a:gridCol w="1042670"/>
                <a:gridCol w="1042670"/>
                <a:gridCol w="986790"/>
                <a:gridCol w="972820"/>
                <a:gridCol w="800734"/>
                <a:gridCol w="572134"/>
                <a:gridCol w="856615"/>
              </a:tblGrid>
              <a:tr h="243204">
                <a:tc rowSpan="2"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22250" marR="132715" indent="-83820">
                        <a:lnSpc>
                          <a:spcPts val="1380"/>
                        </a:lnSpc>
                      </a:pP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Case </a:t>
                      </a:r>
                      <a:r>
                        <a:rPr sz="1200" b="1" spc="-25" dirty="0">
                          <a:latin typeface="Times New Roman" panose="02020603050405020304"/>
                          <a:cs typeface="Times New Roman" panose="02020603050405020304"/>
                        </a:rPr>
                        <a:t>Id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0292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Description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p>
                      <a:pPr marL="271145">
                        <a:lnSpc>
                          <a:spcPts val="1400"/>
                        </a:lnSpc>
                        <a:spcBef>
                          <a:spcPts val="420"/>
                        </a:spcBef>
                      </a:pP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Input</a:t>
                      </a:r>
                      <a:r>
                        <a:rPr sz="1200" b="1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Data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33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gridSpan="4">
                  <a:txBody>
                    <a:bodyPr/>
                    <a:p>
                      <a:pPr algn="ctr">
                        <a:lnSpc>
                          <a:spcPts val="1400"/>
                        </a:lnSpc>
                        <a:spcBef>
                          <a:spcPts val="420"/>
                        </a:spcBef>
                      </a:pP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Expected</a:t>
                      </a:r>
                      <a:r>
                        <a:rPr sz="1200" b="1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Output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33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rowSpan="2"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61290" marR="154940" indent="20955">
                        <a:lnSpc>
                          <a:spcPts val="1380"/>
                        </a:lnSpc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Actual Output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Status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Comments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3400">
                <a:tc vMerge="1"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Times New Roman" panose="02020603050405020304"/>
                          <a:cs typeface="Times New Roman" panose="02020603050405020304"/>
                        </a:rPr>
                        <a:t>L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67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Times New Roman" panose="02020603050405020304"/>
                          <a:cs typeface="Times New Roman" panose="02020603050405020304"/>
                        </a:rPr>
                        <a:t>S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67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302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b="1" spc="-50" dirty="0">
                          <a:latin typeface="Times New Roman" panose="02020603050405020304"/>
                          <a:cs typeface="Times New Roman" panose="02020603050405020304"/>
                        </a:rPr>
                        <a:t>B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67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53060" marR="215900" indent="-134620">
                        <a:lnSpc>
                          <a:spcPts val="1380"/>
                        </a:lnSpc>
                        <a:spcBef>
                          <a:spcPts val="720"/>
                        </a:spcBef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Expected Sales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53060" marR="300355" indent="-50800">
                        <a:lnSpc>
                          <a:spcPts val="1380"/>
                        </a:lnSpc>
                        <a:spcBef>
                          <a:spcPts val="720"/>
                        </a:spcBef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Actual Sales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8265" marR="86360" indent="101600">
                        <a:lnSpc>
                          <a:spcPts val="1380"/>
                        </a:lnSpc>
                        <a:spcBef>
                          <a:spcPts val="35"/>
                        </a:spcBef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Expected Commission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1915" marR="78740" indent="185420">
                        <a:lnSpc>
                          <a:spcPts val="1380"/>
                        </a:lnSpc>
                        <a:spcBef>
                          <a:spcPts val="1340"/>
                        </a:spcBef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Actual Commission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70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782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50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75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Check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of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sales=0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R="164465" algn="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12192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0922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SAEO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50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0922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PASS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50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6324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75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if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with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in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71755" marR="336550">
                        <a:lnSpc>
                          <a:spcPct val="102000"/>
                        </a:lnSpc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these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range(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&gt;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0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≤</a:t>
                      </a:r>
                      <a:r>
                        <a:rPr sz="1200" spc="2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1000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126365" algn="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9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124460" algn="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6515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75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if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with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in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71755" marR="106045">
                        <a:lnSpc>
                          <a:spcPct val="102000"/>
                        </a:lnSpc>
                        <a:spcBef>
                          <a:spcPts val="1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these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range(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&gt;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1000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≤</a:t>
                      </a:r>
                      <a:r>
                        <a:rPr sz="1200" spc="2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1800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126365" algn="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124460" algn="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124460" algn="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76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03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755" marR="106045">
                        <a:lnSpc>
                          <a:spcPct val="102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if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with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in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 these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range(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&gt;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1800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R="126365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R="124460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30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R="124460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40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64*187"/>
  <p:tag name="TABLE_ENDDRAG_RECT" val="39*232*664*18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11820</Words>
  <Application>WPS Presentation</Application>
  <PresentationFormat>Custom</PresentationFormat>
  <Paragraphs>1035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Cambria</vt:lpstr>
      <vt:lpstr>Verdana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K.S Mathad</cp:lastModifiedBy>
  <cp:revision>5</cp:revision>
  <dcterms:created xsi:type="dcterms:W3CDTF">2025-08-28T10:40:00Z</dcterms:created>
  <dcterms:modified xsi:type="dcterms:W3CDTF">2025-10-23T10:12:26Z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2015-07-24T11:00:00Z</vt:filetime>
  </property>
  <property fmtid="{D5CDD505-2E9C-101B-9397-08002B2CF9AE}" pid="3" name="Creator">
    <vt:lpwstr>convertonlinefree.com</vt:lpwstr>
  </property>
  <property fmtid="{D5CDD505-2E9C-101B-9397-08002B2CF9AE}" pid="4" name="LastSaved">
    <vt:filetime>2025-08-28T11:00:00Z</vt:filetime>
  </property>
  <property fmtid="{D5CDD505-2E9C-101B-9397-08002B2CF9AE}" pid="5" name="Producer">
    <vt:lpwstr>convertonlinefree.com</vt:lpwstr>
  </property>
  <property fmtid="{D5CDD505-2E9C-101B-9397-08002B2CF9AE}" pid="6" name="ICV">
    <vt:lpwstr>39246513176E406598F46E27492C059D_13</vt:lpwstr>
  </property>
  <property fmtid="{D5CDD505-2E9C-101B-9397-08002B2CF9AE}" pid="7" name="KSOProductBuildVer">
    <vt:lpwstr>1033-12.2.0.22549</vt:lpwstr>
  </property>
</Properties>
</file>