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0693400" cy="10693400"/>
  <p:notesSz cx="106934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461" y="-62"/>
      </p:cViewPr>
      <p:guideLst>
        <p:guide orient="horz" pos="2880"/>
        <p:guide pos="2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5000" y="10009093"/>
            <a:ext cx="1042974" cy="215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64758" y="10009093"/>
            <a:ext cx="617727" cy="215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63143"/>
            <a:ext cx="2473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Verdana" panose="020B0604030504040204"/>
                <a:cs typeface="Verdana" panose="020B0604030504040204"/>
              </a:rPr>
              <a:t>Software</a:t>
            </a:r>
            <a:r>
              <a:rPr sz="1200" b="1" i="1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b="1" i="1" dirty="0">
                <a:latin typeface="Verdana" panose="020B0604030504040204"/>
                <a:cs typeface="Verdana" panose="020B0604030504040204"/>
              </a:rPr>
              <a:t>Testing</a:t>
            </a:r>
            <a:r>
              <a:rPr sz="1200" b="1" i="1" spc="-50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b="1" i="1" spc="-10" dirty="0">
                <a:latin typeface="Verdana" panose="020B0604030504040204"/>
                <a:cs typeface="Verdana" panose="020B0604030504040204"/>
              </a:rPr>
              <a:t>Laboratory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499871"/>
            <a:ext cx="8946084" cy="46229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18288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953243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47244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38100"/>
                </a:lnTo>
                <a:lnTo>
                  <a:pt x="5769229" y="38100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82114" y="717295"/>
            <a:ext cx="3197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1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LABORATORY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r>
              <a:rPr spc="-50" dirty="0"/>
              <a:t>2</a:t>
            </a:r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02004" y="1127505"/>
            <a:ext cx="1532255" cy="55079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Subject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b="1" spc="-10" dirty="0" smtClean="0">
                <a:latin typeface="Times New Roman" panose="02020603050405020304"/>
                <a:cs typeface="Times New Roman" panose="02020603050405020304"/>
              </a:rPr>
              <a:t>22IS73 </a:t>
            </a:r>
            <a:r>
              <a:rPr sz="1200" b="1" smtClean="0">
                <a:latin typeface="Times New Roman" panose="02020603050405020304"/>
                <a:cs typeface="Times New Roman" panose="02020603050405020304"/>
              </a:rPr>
              <a:t>Hours/Week</a:t>
            </a:r>
            <a:r>
              <a:rPr sz="1200" b="1" spc="-3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03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Hours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42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604" y="1993901"/>
            <a:ext cx="8635696" cy="159956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indent="0">
              <a:lnSpc>
                <a:spcPct val="100000"/>
              </a:lnSpc>
              <a:spcBef>
                <a:spcPts val="1160"/>
              </a:spcBef>
              <a:buFont typeface="Times New Roman" panose="02020603050405020304"/>
              <a:buNone/>
            </a:pPr>
            <a:r>
              <a:rPr lang="en-US" altLang="en-US" sz="1200" dirty="0">
                <a:latin typeface="Times New Roman" panose="02020603050405020304"/>
                <a:cs typeface="Times New Roman" panose="02020603050405020304"/>
              </a:rPr>
              <a:t>3. 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dataflow</a:t>
            </a:r>
            <a:r>
              <a:rPr sz="12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testing,</a:t>
            </a:r>
            <a:r>
              <a:rPr sz="12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derive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results.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Times New Roman" panose="02020603050405020304"/>
              <a:buAutoNum type="arabicPeriod"/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065" marR="6985" indent="0" algn="just">
              <a:lnSpc>
                <a:spcPts val="1380"/>
              </a:lnSpc>
              <a:spcBef>
                <a:spcPts val="5"/>
              </a:spcBef>
              <a:buNone/>
              <a:tabLst>
                <a:tab pos="240665" algn="l"/>
              </a:tabLst>
            </a:pPr>
            <a:r>
              <a:rPr lang="en-US" altLang="en-US" sz="1200" dirty="0">
                <a:latin typeface="Times New Roman" panose="02020603050405020304"/>
                <a:cs typeface="Times New Roman" panose="02020603050405020304"/>
              </a:rPr>
              <a:t>4. 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2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12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testing,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different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results.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Font typeface="Times New Roman" panose="02020603050405020304"/>
              <a:buAutoNum type="arabicPeriod"/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marR="6985" indent="-228600" algn="just">
              <a:lnSpc>
                <a:spcPts val="1380"/>
              </a:lnSpc>
              <a:buAutoNum type="arabicPeriod"/>
              <a:tabLst>
                <a:tab pos="240665" algn="l"/>
              </a:tabLst>
            </a:pP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527" y="380491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74129" y="380491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620267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63904" y="3131946"/>
            <a:ext cx="17780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14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15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r>
              <a:rPr spc="-25" dirty="0"/>
              <a:t>12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63904" y="3657727"/>
            <a:ext cx="17780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16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17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18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19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904" y="4534026"/>
            <a:ext cx="177800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21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22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23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904" y="650239"/>
            <a:ext cx="5410835" cy="465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635"/>
              </a:lnSpc>
              <a:spcBef>
                <a:spcPts val="100"/>
              </a:spcBef>
              <a:buAutoNum type="arabicPlain"/>
              <a:tabLst>
                <a:tab pos="240665" algn="l"/>
              </a:tabLst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//Program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" sz="1400" b="1" spc="-5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(Dataflow</a:t>
            </a:r>
            <a:r>
              <a:rPr sz="14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1400" b="1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calculation)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ts val="1365"/>
              </a:lnSpc>
              <a:buFont typeface="Times New Roman" panose="02020603050405020304"/>
              <a:buAutoNum type="arabicPlain"/>
              <a:tabLst>
                <a:tab pos="2406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#include&lt;stdio.h&gt;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ts val="1380"/>
              </a:lnSpc>
              <a:buFont typeface="Times New Roman" panose="02020603050405020304"/>
              <a:buAutoNum type="arabicPlain"/>
              <a:tabLst>
                <a:tab pos="2406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40665" indent="-227965">
              <a:lnSpc>
                <a:spcPts val="1380"/>
              </a:lnSpc>
              <a:buFont typeface="Times New Roman" panose="02020603050405020304"/>
              <a:buAutoNum type="arabicPlain"/>
              <a:tabLst>
                <a:tab pos="240665" algn="l"/>
              </a:tabLst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tlocks,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lprice,sprice,bprice,lsales,ssales,bsales,sales,comm;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lprice=45.0;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sprice=30.0;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bprice=25.0;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tlocks=0;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tstocks=0;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indent="-685165">
              <a:lnSpc>
                <a:spcPts val="1380"/>
              </a:lnSpc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tbarrels=0;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marR="5080" indent="-685800">
              <a:lnSpc>
                <a:spcPts val="1380"/>
              </a:lnSpc>
              <a:spcBef>
                <a:spcPts val="70"/>
              </a:spcBef>
              <a:buFont typeface="Times New Roman" panose="02020603050405020304"/>
              <a:buAutoNum type="arabicPlain"/>
              <a:tabLst>
                <a:tab pos="6978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scanf("%d",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while(locks!=-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1)</a:t>
            </a:r>
            <a:r>
              <a:rPr sz="1200" spc="17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155065" marR="119380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 and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barrels\n"); scanf("%d%d",&amp;stocks,&amp;barrels); tlocks=tlocks+locks;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155065" marR="2705735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tstocks=tstocks+stocks; tbarrels=btarrels+barrels;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155065" marR="180975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locks\n");</a:t>
            </a:r>
            <a:r>
              <a:rPr sz="1200" spc="1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97865" marR="2428875" algn="just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printf("\ntotal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%d\”,tlocks); printf(“total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=%d\n”,tstocks); printf(“total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 barrels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=%d\n",tbarrels);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904" y="5410580"/>
            <a:ext cx="177800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24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25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26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27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28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29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31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32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33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9653" y="5410580"/>
            <a:ext cx="2668270" cy="353758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37719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lsales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lprice*tlocks; ssales=sprice*tstocks; bsales=bprice*tbarrels; sales=lsales+ssales+bsales; printf("\nthe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sales=%f\n",sales);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1800.0)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comm=0.10*1000.0;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508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comm=comm+0.15*800; comm=comm+0.20*(sales-1800.0);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else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1000)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11938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=0.10*1000; comm=comm+0.15*(sales-1000);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50800">
              <a:lnSpc>
                <a:spcPts val="131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75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comm=0.10*sales;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13906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printf("the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is=%f\n",comm);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0;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3904" y="7338821"/>
            <a:ext cx="17780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34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35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36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37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3904" y="8213597"/>
            <a:ext cx="32766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38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39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40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41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42</a:t>
            </a:r>
            <a:r>
              <a:rPr sz="1200" b="1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0051" y="380491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75653" y="380491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0936" y="620267"/>
            <a:ext cx="6035040" cy="56515"/>
          </a:xfrm>
          <a:custGeom>
            <a:avLst/>
            <a:gdLst/>
            <a:ahLst/>
            <a:cxnLst/>
            <a:rect l="l" t="t" r="r" b="b"/>
            <a:pathLst>
              <a:path w="6035040" h="56515">
                <a:moveTo>
                  <a:pt x="6034786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4786" y="56388"/>
                </a:lnTo>
                <a:lnTo>
                  <a:pt x="6034786" y="18288"/>
                </a:lnTo>
                <a:close/>
              </a:path>
              <a:path w="6035040" h="56515">
                <a:moveTo>
                  <a:pt x="6034786" y="0"/>
                </a:moveTo>
                <a:lnTo>
                  <a:pt x="0" y="0"/>
                </a:lnTo>
                <a:lnTo>
                  <a:pt x="0" y="9144"/>
                </a:lnTo>
                <a:lnTo>
                  <a:pt x="6034786" y="9144"/>
                </a:lnTo>
                <a:lnTo>
                  <a:pt x="603478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0936" y="9963911"/>
            <a:ext cx="6035040" cy="56515"/>
          </a:xfrm>
          <a:custGeom>
            <a:avLst/>
            <a:gdLst/>
            <a:ahLst/>
            <a:cxnLst/>
            <a:rect l="l" t="t" r="r" b="b"/>
            <a:pathLst>
              <a:path w="6035040" h="56515">
                <a:moveTo>
                  <a:pt x="6034786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4786" y="56388"/>
                </a:lnTo>
                <a:lnTo>
                  <a:pt x="6034786" y="47256"/>
                </a:lnTo>
                <a:close/>
              </a:path>
              <a:path w="6035040" h="56515">
                <a:moveTo>
                  <a:pt x="6034786" y="0"/>
                </a:moveTo>
                <a:lnTo>
                  <a:pt x="0" y="0"/>
                </a:lnTo>
                <a:lnTo>
                  <a:pt x="0" y="38100"/>
                </a:lnTo>
                <a:lnTo>
                  <a:pt x="6034786" y="38100"/>
                </a:lnTo>
                <a:lnTo>
                  <a:pt x="603478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5959" y="897991"/>
            <a:ext cx="5197475" cy="1339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1800">
              <a:lnSpc>
                <a:spcPct val="111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Program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Experiment</a:t>
            </a:r>
            <a:r>
              <a:rPr sz="14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4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 marR="1449070">
              <a:lnSpc>
                <a:spcPct val="109000"/>
              </a:lnSpc>
              <a:spcBef>
                <a:spcPts val="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Precondition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loop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Brief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Description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737870">
              <a:lnSpc>
                <a:spcPct val="100000"/>
              </a:lnSpc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Define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/Use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nodes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variables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r>
              <a:rPr spc="-25" dirty="0"/>
              <a:t>13</a:t>
            </a:r>
            <a:endParaRPr spc="-25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7031" y="2229865"/>
          <a:ext cx="6117590" cy="3329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/>
                <a:gridCol w="3571240"/>
                <a:gridCol w="1485900"/>
              </a:tblGrid>
              <a:tr h="443230">
                <a:tc>
                  <a:txBody>
                    <a:bodyPr/>
                    <a:lstStyle/>
                    <a:p>
                      <a:pPr marL="311150" marR="196215" indent="-105410">
                        <a:lnSpc>
                          <a:spcPts val="1380"/>
                        </a:lnSpc>
                        <a:spcBef>
                          <a:spcPts val="360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Variable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name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57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Defined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at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node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Used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at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Node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lprice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R="29527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sprice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R="28511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bprice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R="29972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tlocks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10,16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16,21,24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R="26225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tstocks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11,17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17,22,25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R="23939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tbarrels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12,18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18,23,26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13,19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14,16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R="26352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18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R="311150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lsales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R="29845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ssales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R="28829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27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28,29,33,34,37,39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R="28638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comm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31,32,33,36,37,39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32,33,37,40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781557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3656" y="781557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6824" y="1021346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18275"/>
                </a:moveTo>
                <a:lnTo>
                  <a:pt x="0" y="18275"/>
                </a:lnTo>
                <a:lnTo>
                  <a:pt x="0" y="56375"/>
                </a:lnTo>
                <a:lnTo>
                  <a:pt x="9645396" y="56375"/>
                </a:lnTo>
                <a:lnTo>
                  <a:pt x="9645396" y="18275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9144"/>
                </a:lnTo>
                <a:lnTo>
                  <a:pt x="9645396" y="9144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6824" y="6832092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47244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38100"/>
                </a:lnTo>
                <a:lnTo>
                  <a:pt x="9645396" y="38100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34054" y="1084834"/>
            <a:ext cx="39223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Selected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Define/Use</a:t>
            </a:r>
            <a:r>
              <a:rPr sz="1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412" y="6887942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26016" y="6887942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14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02919" y="1315466"/>
          <a:ext cx="9465945" cy="5233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3144520"/>
                <a:gridCol w="1771014"/>
                <a:gridCol w="2344420"/>
                <a:gridCol w="800734"/>
                <a:gridCol w="856615"/>
              </a:tblGrid>
              <a:tr h="560705">
                <a:tc>
                  <a:txBody>
                    <a:bodyPr/>
                    <a:lstStyle/>
                    <a:p>
                      <a:pPr marL="95885" marR="87630" indent="-5080" algn="just">
                        <a:lnSpc>
                          <a:spcPts val="1380"/>
                        </a:lnSpc>
                        <a:spcBef>
                          <a:spcPts val="130"/>
                        </a:spcBef>
                      </a:pP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Test case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id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90" marR="118110" indent="275590">
                        <a:lnSpc>
                          <a:spcPts val="1380"/>
                        </a:lnSpc>
                        <a:spcBef>
                          <a:spcPts val="825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Variables</a:t>
                      </a:r>
                      <a:r>
                        <a:rPr sz="12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Path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(Beginning,</a:t>
                      </a:r>
                      <a:r>
                        <a:rPr sz="12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End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nodes)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Du</a:t>
                      </a:r>
                      <a:r>
                        <a:rPr sz="1200" b="1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Paths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9390" marR="67945" indent="-128270">
                        <a:lnSpc>
                          <a:spcPts val="1380"/>
                        </a:lnSpc>
                        <a:spcBef>
                          <a:spcPts val="825"/>
                        </a:spcBef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Definition clear?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Comments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4110" marR="153670" indent="-981710">
                        <a:lnSpc>
                          <a:spcPct val="102000"/>
                        </a:lnSpc>
                        <a:spcBef>
                          <a:spcPts val="1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 lock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price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DEF(lprice,7)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USE(lprice,24)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(7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&lt;7-8-9-10-11-12-13-14-15-16-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18-19-20-21-22-23-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1410" marR="99060" indent="-1024255">
                        <a:lnSpc>
                          <a:spcPct val="102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Stock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price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DEF(sprice,8)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USE(sprice,25)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(8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&lt;8-9-10-11-12-13-14-15-16-17-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19-20-21-22-23-24-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7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8535" marR="186055" indent="-792480">
                        <a:lnSpc>
                          <a:spcPts val="146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barrel</a:t>
                      </a:r>
                      <a:r>
                        <a:rPr sz="1200" spc="2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price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DEF(bprice,9)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USE(bprice,26)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(9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&lt;9-10-11-12-13-14-15-16-17-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19-20-21-22-23-24-25-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26&gt;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321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6850" marR="194310" algn="ctr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DEF((tlocks,10)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DEF(tlocks,16))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227330" marR="191770" algn="ctr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usage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node(USE(tlocks,16),USE(tlocks,21), USE(tlocks,24))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(10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&lt;10-11-12-13-14-15-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(10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21)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&lt;10-11-12-13-14-15-16-17-18-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20-14-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21&gt;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(10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&lt;10-11-12-13-14-15-16-17-18-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20-14-21-22-23-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(16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&lt;16-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4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(16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21)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&lt;16-17-18-19-14-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21&gt;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(16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&lt;16-17-18-19-20-14-21-22-23-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83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0650" marR="119380" algn="ctr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DEF((tstocks,11)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DEF(tstocks,17))</a:t>
                      </a:r>
                      <a:r>
                        <a:rPr sz="1200" spc="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152400" marR="115570" algn="ctr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usage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node(USE(tstocks,17),USE(tstocks,22), USE(tstocks,25))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(11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&lt;11-12-13-14-15-16-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(11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&lt;11-12-13-14-15-16-17-18-19-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20-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21-14-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21&gt;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909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(11,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&lt;11-12-13-14-15-16-17-18-19-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20-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21-14-21-23-24-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&lt;17-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701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&lt;17-18-19-20-14-21-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781557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93656" y="781557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2919" y="1030478"/>
          <a:ext cx="9718675" cy="4020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090"/>
                <a:gridCol w="3144520"/>
                <a:gridCol w="1771014"/>
                <a:gridCol w="2344420"/>
                <a:gridCol w="800734"/>
                <a:gridCol w="856615"/>
                <a:gridCol w="253365"/>
              </a:tblGrid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&lt;17-18-19-20-14-21-22-23-24-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No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37782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47955" marR="147320" indent="208280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</a:t>
                      </a:r>
                      <a:r>
                        <a:rPr sz="12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DEF(locks,13), DEF(locks,19)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USE(locks,14),USE(locks,16)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(13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&lt;13-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Begin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loop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574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13 ,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&lt;13-14-15-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701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(19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&lt;19-20-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37782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(19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&lt;19-20-14-15-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Repeat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loop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(DEF(stocks,15)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USE(stocks,17)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(15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&lt;15-16-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25425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9540" marR="129540" indent="59055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DEF(sales,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27)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USE(Sales,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28),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USE(Sales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29),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USE(Sales,33)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 ,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USE(Sales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4864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34) ,</a:t>
                      </a:r>
                      <a:r>
                        <a:rPr sz="120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USE(Sales,37)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 ,</a:t>
                      </a:r>
                      <a:r>
                        <a:rPr sz="120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USE(Sales</a:t>
                      </a:r>
                      <a:r>
                        <a:rPr sz="1200" spc="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39)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(27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,28)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&lt;27-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28&gt;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40665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(27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29)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&lt;27-28-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29&gt;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5104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(27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33)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&lt;27-28-29-30-31-32-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33&gt;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701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(27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34)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&lt;27-28-29-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34&gt;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5104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(27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37)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&lt;27-28-29-34-35-36-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37&gt;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7010"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(27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39)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&lt;27-28-29-34-38-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39&gt;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43204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43840" marR="243840" algn="ctr">
                        <a:lnSpc>
                          <a:spcPct val="102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Check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Commission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variable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DEF(comm,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31,32,33)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DEF(comm,34,35)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DEF(comm,39)</a:t>
                      </a:r>
                      <a:r>
                        <a:rPr sz="12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USE(comm,40)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(31,32,33),40)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&lt;31-32-33-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40&gt;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05740">
                <a:tc vMerge="1"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((34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35)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40)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&lt;34-35-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40&gt;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321310">
                <a:tc vMerge="1"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((39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40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)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09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&lt;39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-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40&gt;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09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Yes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09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96824" y="6832092"/>
            <a:ext cx="9645650" cy="56515"/>
          </a:xfrm>
          <a:custGeom>
            <a:avLst/>
            <a:gdLst/>
            <a:ahLst/>
            <a:cxnLst/>
            <a:rect l="l" t="t" r="r" b="b"/>
            <a:pathLst>
              <a:path w="9645650" h="56515">
                <a:moveTo>
                  <a:pt x="9645396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45396" y="56388"/>
                </a:lnTo>
                <a:lnTo>
                  <a:pt x="9645396" y="47244"/>
                </a:lnTo>
                <a:close/>
              </a:path>
              <a:path w="9645650" h="56515">
                <a:moveTo>
                  <a:pt x="9645396" y="0"/>
                </a:moveTo>
                <a:lnTo>
                  <a:pt x="0" y="0"/>
                </a:lnTo>
                <a:lnTo>
                  <a:pt x="0" y="38100"/>
                </a:lnTo>
                <a:lnTo>
                  <a:pt x="9645396" y="38100"/>
                </a:lnTo>
                <a:lnTo>
                  <a:pt x="9645396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02412" y="6887942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6016" y="6887942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15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545695" y="2045970"/>
            <a:ext cx="356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412" y="49225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5000" y="181056"/>
            <a:ext cx="6024880" cy="9549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5720" algn="just">
              <a:lnSpc>
                <a:spcPct val="100000"/>
              </a:lnSpc>
              <a:spcBef>
                <a:spcPts val="675"/>
              </a:spcBef>
              <a:tabLst>
                <a:tab pos="5692140" algn="l"/>
              </a:tabLst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r>
              <a:rPr sz="1200" dirty="0">
                <a:latin typeface="Cambria" panose="02040503050406030204"/>
                <a:cs typeface="Cambria" panose="02040503050406030204"/>
              </a:rPr>
              <a:t>	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  <a:p>
            <a:pPr marL="12700" marR="5080" algn="just">
              <a:lnSpc>
                <a:spcPts val="1620"/>
              </a:lnSpc>
              <a:spcBef>
                <a:spcPts val="78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400" b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400" b="1" spc="38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(Boundary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400" b="1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Problem)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 marR="6350" algn="just">
              <a:lnSpc>
                <a:spcPts val="1380"/>
              </a:lnSpc>
              <a:spcBef>
                <a:spcPts val="67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develop,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b="1" spc="3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b="1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b="1" spc="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solve</a:t>
            </a:r>
            <a:r>
              <a:rPr sz="1200" b="1" spc="3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problem.</a:t>
            </a:r>
            <a:r>
              <a:rPr sz="12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perspective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200" b="1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value,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cases,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715" algn="just">
              <a:lnSpc>
                <a:spcPct val="110000"/>
              </a:lnSpc>
              <a:spcBef>
                <a:spcPts val="118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Assumption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b="1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lock=45.0,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stock=30.0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barrels=25.0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production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limit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could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sell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 a month 70 locks,80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stocks and 90 barrels</a:t>
            </a:r>
            <a:r>
              <a:rPr sz="1200" b="1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 sales = 10 %</a:t>
            </a:r>
            <a:r>
              <a:rPr sz="12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&lt;= 1000 and 15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50" dirty="0">
                <a:latin typeface="Times New Roman" panose="02020603050405020304"/>
                <a:cs typeface="Times New Roman" panose="02020603050405020304"/>
              </a:rPr>
              <a:t>%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1000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1800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 20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above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1800*/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4897120">
              <a:lnSpc>
                <a:spcPts val="1380"/>
              </a:lnSpc>
              <a:spcBef>
                <a:spcPts val="121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#include&lt;stdio.h&gt;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256222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tlocks,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tstocks,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float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bprice,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comm;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445516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c1,c2,c3,temp; lprice=45.0; sprice=30.0; bprice=25.0; tlocks=0; tstocks=0; tbarrels=0;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84709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while(locks!=-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7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c1=(locks&lt;=0||locks&gt;70);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 marR="2035810">
              <a:lnSpc>
                <a:spcPts val="1380"/>
              </a:lnSpc>
              <a:spcBef>
                <a:spcPts val="7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 and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barrels\n"); scanf("%d%d",&amp;stocks,&amp;barrels); c2=(stocks&lt;=0||stocks&gt;80); c3=(barrels&lt;=0||barrels&gt;90);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if(c1)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1..70</a:t>
            </a:r>
            <a:r>
              <a:rPr sz="1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42836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temp=tlocks+locks; if(temp&gt;70)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842135">
              <a:lnSpc>
                <a:spcPts val="1315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1..70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842135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tlocks=temp;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795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%d\n",tlocks);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if(c2)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1..80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41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30962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temp=tstocks+stocks; if(temp&gt;80)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48387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1..80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ISE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Page </a:t>
            </a:r>
            <a:r>
              <a:rPr spc="-25" dirty="0"/>
              <a:t>16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527" y="254000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4694" y="254000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412" y="49225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18288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9144"/>
                </a:lnTo>
                <a:lnTo>
                  <a:pt x="6036310" y="9144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9412" y="9963911"/>
            <a:ext cx="6036310" cy="56515"/>
          </a:xfrm>
          <a:custGeom>
            <a:avLst/>
            <a:gdLst/>
            <a:ahLst/>
            <a:cxnLst/>
            <a:rect l="l" t="t" r="r" b="b"/>
            <a:pathLst>
              <a:path w="6036309" h="56515">
                <a:moveTo>
                  <a:pt x="6036310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6036310" y="56388"/>
                </a:lnTo>
                <a:lnTo>
                  <a:pt x="6036310" y="47256"/>
                </a:lnTo>
                <a:close/>
              </a:path>
              <a:path w="6036309" h="56515">
                <a:moveTo>
                  <a:pt x="6036310" y="0"/>
                </a:moveTo>
                <a:lnTo>
                  <a:pt x="0" y="0"/>
                </a:lnTo>
                <a:lnTo>
                  <a:pt x="0" y="38100"/>
                </a:lnTo>
                <a:lnTo>
                  <a:pt x="6036310" y="38100"/>
                </a:lnTo>
                <a:lnTo>
                  <a:pt x="603631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000" y="520700"/>
            <a:ext cx="5986145" cy="774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ts val="1410"/>
              </a:lnSpc>
              <a:spcBef>
                <a:spcPts val="10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tstocks=temp;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stocks=%d\n",tstocks);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if(c3)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printf("value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1..90</a:t>
            </a:r>
            <a:r>
              <a:rPr sz="12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033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320421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temp=tbarrels+barrels; if(temp&gt;90)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52451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printf("new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range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1..90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old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",temp);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tbarrels=temp;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0414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printf("total</a:t>
            </a:r>
            <a:r>
              <a:rPr sz="1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barrel=%d",tbarrels);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 marR="351155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loop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locks\n"); scanf("%d",&amp;locks);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508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%d\ntotal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=%d\ntotal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=%d\n",tlocks,tstocks,tbarrels);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lprice*tlocks+sprice*tstocks+bprice*tbarrels;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4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printf("\nthe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sales=%f\n",sales);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410"/>
              </a:lnSpc>
              <a:spcBef>
                <a:spcPts val="132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if(tlocks&gt;0&amp;&amp;tstocks&gt;0&amp;&amp;tbarrels&gt;0)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1800.0)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comm=0.10*1000.0;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240792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comm=comm+0.15*800; comm=comm+0.20*(sales-1800.0);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else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if(sales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1000)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 marR="252222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=0.10*1000; comm=comm+0.15*(sales-1000);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41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comm=0.10*sales;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ts val="1410"/>
              </a:lnSpc>
              <a:spcBef>
                <a:spcPts val="132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printf("the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is=%f\n",comm);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900" marR="2196465" indent="45656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printf("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cannot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calculated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\n");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ISE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Page </a:t>
            </a:r>
            <a:r>
              <a:rPr spc="-25" dirty="0"/>
              <a:t>17</a:t>
            </a:r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363" y="1011682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4633" y="1011682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3776" y="1251457"/>
            <a:ext cx="9639300" cy="56515"/>
          </a:xfrm>
          <a:custGeom>
            <a:avLst/>
            <a:gdLst/>
            <a:ahLst/>
            <a:cxnLst/>
            <a:rect l="l" t="t" r="r" b="b"/>
            <a:pathLst>
              <a:path w="9639300" h="56515">
                <a:moveTo>
                  <a:pt x="963930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9639300" y="56388"/>
                </a:lnTo>
                <a:lnTo>
                  <a:pt x="9639300" y="18288"/>
                </a:lnTo>
                <a:close/>
              </a:path>
              <a:path w="9639300" h="56515">
                <a:moveTo>
                  <a:pt x="9639300" y="0"/>
                </a:moveTo>
                <a:lnTo>
                  <a:pt x="0" y="0"/>
                </a:lnTo>
                <a:lnTo>
                  <a:pt x="0" y="9144"/>
                </a:lnTo>
                <a:lnTo>
                  <a:pt x="9639300" y="9144"/>
                </a:lnTo>
                <a:lnTo>
                  <a:pt x="963930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3776" y="7161276"/>
            <a:ext cx="9639300" cy="56515"/>
          </a:xfrm>
          <a:custGeom>
            <a:avLst/>
            <a:gdLst/>
            <a:ahLst/>
            <a:cxnLst/>
            <a:rect l="l" t="t" r="r" b="b"/>
            <a:pathLst>
              <a:path w="9639300" h="56515">
                <a:moveTo>
                  <a:pt x="9639300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39300" y="56388"/>
                </a:lnTo>
                <a:lnTo>
                  <a:pt x="9639300" y="47244"/>
                </a:lnTo>
                <a:close/>
              </a:path>
              <a:path w="9639300" h="56515">
                <a:moveTo>
                  <a:pt x="9639300" y="0"/>
                </a:moveTo>
                <a:lnTo>
                  <a:pt x="0" y="0"/>
                </a:lnTo>
                <a:lnTo>
                  <a:pt x="0" y="38100"/>
                </a:lnTo>
                <a:lnTo>
                  <a:pt x="9639300" y="38100"/>
                </a:lnTo>
                <a:lnTo>
                  <a:pt x="963930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39343" y="1312519"/>
            <a:ext cx="8050530" cy="204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56305">
              <a:lnSpc>
                <a:spcPct val="11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Name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Problem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Experiment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5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45.0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30.0 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25.0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stock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price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*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barrel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price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commission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10%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up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next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800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%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excess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1800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  <a:spcBef>
                <a:spcPts val="145"/>
              </a:spcBef>
            </a:pP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Pre-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condition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exit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1&lt;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=lock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70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1&lt;=stock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&lt;=80 and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1&lt;=barrel&lt;=90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Brief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Description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salesperson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sell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least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complete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rifle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per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month.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494790" algn="ctr">
              <a:lnSpc>
                <a:spcPct val="100000"/>
              </a:lnSpc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CHECKING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BOUNDARY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VALUE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LOCKS,</a:t>
            </a:r>
            <a:r>
              <a:rPr sz="1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STOCKS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BARRELS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COMMISSION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494790" algn="ctr">
              <a:lnSpc>
                <a:spcPct val="100000"/>
              </a:lnSpc>
              <a:spcBef>
                <a:spcPts val="85"/>
              </a:spcBef>
            </a:pPr>
            <a:r>
              <a:rPr sz="1200" b="1" dirty="0">
                <a:latin typeface="Calibri" panose="020F0502020204030204"/>
                <a:cs typeface="Calibri" panose="020F0502020204030204"/>
              </a:rPr>
              <a:t>Commission</a:t>
            </a:r>
            <a:r>
              <a:rPr sz="12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Problem</a:t>
            </a:r>
            <a:r>
              <a:rPr sz="12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2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Boundary</a:t>
            </a:r>
            <a:r>
              <a:rPr sz="12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Value</a:t>
            </a:r>
            <a:r>
              <a:rPr sz="12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Analysis</a:t>
            </a:r>
            <a:r>
              <a:rPr sz="12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latin typeface="Calibri" panose="020F0502020204030204"/>
                <a:cs typeface="Calibri" panose="020F0502020204030204"/>
              </a:rPr>
              <a:t>Cases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363" y="7217126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9185" y="7217126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18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0415" y="3353434"/>
          <a:ext cx="9747885" cy="3450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/>
                <a:gridCol w="3246754"/>
                <a:gridCol w="521335"/>
                <a:gridCol w="571500"/>
                <a:gridCol w="654050"/>
                <a:gridCol w="460375"/>
                <a:gridCol w="819785"/>
                <a:gridCol w="458470"/>
                <a:gridCol w="585470"/>
                <a:gridCol w="560704"/>
                <a:gridCol w="1322704"/>
              </a:tblGrid>
              <a:tr h="205740">
                <a:tc rowSpan="2">
                  <a:txBody>
                    <a:bodyPr/>
                    <a:lstStyle/>
                    <a:p>
                      <a:pPr marL="170180" marR="76835" indent="-85725">
                        <a:lnSpc>
                          <a:spcPct val="102000"/>
                        </a:lnSpc>
                        <a:spcBef>
                          <a:spcPts val="79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Case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2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8620">
                <a:tc vMerge="1">
                  <a:tcPr marL="0" marR="0" marT="1003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80645" indent="10160">
                        <a:lnSpc>
                          <a:spcPts val="1460"/>
                        </a:lnSpc>
                        <a:spcBef>
                          <a:spcPts val="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74930" indent="39370">
                        <a:lnSpc>
                          <a:spcPts val="1460"/>
                        </a:lnSpc>
                        <a:spcBef>
                          <a:spcPts val="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 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96520" indent="59055">
                        <a:lnSpc>
                          <a:spcPts val="1460"/>
                        </a:lnSpc>
                        <a:spcBef>
                          <a:spcPts val="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 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" marR="173990" indent="-48895">
                        <a:lnSpc>
                          <a:spcPts val="1460"/>
                        </a:lnSpc>
                        <a:spcBef>
                          <a:spcPts val="4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Comm- ission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Comm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ission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035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Comment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min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locks, stocks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minimum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82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217295" marR="189865" indent="-1026160">
                        <a:lnSpc>
                          <a:spcPct val="102000"/>
                        </a:lnSpc>
                        <a:spcBef>
                          <a:spcPts val="108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min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items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min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+1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any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one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item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37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12.5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minimum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37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130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minimum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37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14.5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minimum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approximately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mid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between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50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Midpoint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780415" marR="128270" indent="-649605">
                        <a:lnSpc>
                          <a:spcPct val="102000"/>
                        </a:lnSpc>
                        <a:spcBef>
                          <a:spcPts val="12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commission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5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975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97.5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55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970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55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955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95.5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exactly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point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650875" marR="128270" indent="-520065">
                        <a:lnSpc>
                          <a:spcPct val="102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commission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2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103.75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1030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104.5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914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1045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106.75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363" y="1011682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4633" y="1011682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0415" y="1260602"/>
          <a:ext cx="9932035" cy="3565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/>
                <a:gridCol w="3246754"/>
                <a:gridCol w="521335"/>
                <a:gridCol w="571500"/>
                <a:gridCol w="654050"/>
                <a:gridCol w="460375"/>
                <a:gridCol w="819785"/>
                <a:gridCol w="458470"/>
                <a:gridCol w="574675"/>
                <a:gridCol w="571500"/>
                <a:gridCol w="1329054"/>
                <a:gridCol w="178434"/>
              </a:tblGrid>
              <a:tr h="402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2020" marR="194945" indent="-724535">
                        <a:lnSpc>
                          <a:spcPct val="102000"/>
                        </a:lnSpc>
                        <a:spcBef>
                          <a:spcPts val="13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approximately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mid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value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between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1400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Midpoint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612322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780415" marR="128270" indent="-649605">
                        <a:lnSpc>
                          <a:spcPct val="102000"/>
                        </a:lnSpc>
                        <a:spcBef>
                          <a:spcPts val="120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commission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30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1775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216.25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530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2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2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1770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420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215.5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530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1755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213.25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178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exactly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equal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point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650875" marR="128270" indent="-520065">
                        <a:lnSpc>
                          <a:spcPct val="102000"/>
                        </a:lnSpc>
                        <a:spcBef>
                          <a:spcPts val="11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calculate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commission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2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46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1830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46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1845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normal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lock,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stock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barrel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48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4800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820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Midpoint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17295" marR="140335" indent="-1068705">
                        <a:lnSpc>
                          <a:spcPct val="102000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max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items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max -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200" spc="2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for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any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one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item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89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7775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1415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maximum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79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7770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1414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maximum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39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69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7755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1411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maximum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max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</a:t>
                      </a:r>
                      <a:r>
                        <a:rPr sz="12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locks,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stocks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80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7800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1420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maximum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612322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93776" y="7161276"/>
            <a:ext cx="9639300" cy="56515"/>
          </a:xfrm>
          <a:custGeom>
            <a:avLst/>
            <a:gdLst/>
            <a:ahLst/>
            <a:cxnLst/>
            <a:rect l="l" t="t" r="r" b="b"/>
            <a:pathLst>
              <a:path w="9639300" h="56515">
                <a:moveTo>
                  <a:pt x="9639300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39300" y="56388"/>
                </a:lnTo>
                <a:lnTo>
                  <a:pt x="9639300" y="47244"/>
                </a:lnTo>
                <a:close/>
              </a:path>
              <a:path w="9639300" h="56515">
                <a:moveTo>
                  <a:pt x="9639300" y="0"/>
                </a:moveTo>
                <a:lnTo>
                  <a:pt x="0" y="0"/>
                </a:lnTo>
                <a:lnTo>
                  <a:pt x="0" y="38100"/>
                </a:lnTo>
                <a:lnTo>
                  <a:pt x="9639300" y="38100"/>
                </a:lnTo>
                <a:lnTo>
                  <a:pt x="963930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99363" y="7217126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89185" y="7217126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19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363" y="1011682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2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4633" y="1011682"/>
            <a:ext cx="28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mbria" panose="02040503050406030204"/>
                <a:cs typeface="Cambria" panose="02040503050406030204"/>
              </a:rPr>
              <a:t>MIT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3776" y="1251457"/>
            <a:ext cx="9639300" cy="56515"/>
          </a:xfrm>
          <a:custGeom>
            <a:avLst/>
            <a:gdLst/>
            <a:ahLst/>
            <a:cxnLst/>
            <a:rect l="l" t="t" r="r" b="b"/>
            <a:pathLst>
              <a:path w="9639300" h="56515">
                <a:moveTo>
                  <a:pt x="9639300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9639300" y="56388"/>
                </a:lnTo>
                <a:lnTo>
                  <a:pt x="9639300" y="18288"/>
                </a:lnTo>
                <a:close/>
              </a:path>
              <a:path w="9639300" h="56515">
                <a:moveTo>
                  <a:pt x="9639300" y="0"/>
                </a:moveTo>
                <a:lnTo>
                  <a:pt x="0" y="0"/>
                </a:lnTo>
                <a:lnTo>
                  <a:pt x="0" y="9144"/>
                </a:lnTo>
                <a:lnTo>
                  <a:pt x="9639300" y="9144"/>
                </a:lnTo>
                <a:lnTo>
                  <a:pt x="963930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3776" y="7161276"/>
            <a:ext cx="9639300" cy="56515"/>
          </a:xfrm>
          <a:custGeom>
            <a:avLst/>
            <a:gdLst/>
            <a:ahLst/>
            <a:cxnLst/>
            <a:rect l="l" t="t" r="r" b="b"/>
            <a:pathLst>
              <a:path w="9639300" h="56515">
                <a:moveTo>
                  <a:pt x="9639300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9639300" y="56388"/>
                </a:lnTo>
                <a:lnTo>
                  <a:pt x="9639300" y="47244"/>
                </a:lnTo>
                <a:close/>
              </a:path>
              <a:path w="9639300" h="56515">
                <a:moveTo>
                  <a:pt x="9639300" y="0"/>
                </a:moveTo>
                <a:lnTo>
                  <a:pt x="0" y="0"/>
                </a:lnTo>
                <a:lnTo>
                  <a:pt x="0" y="38100"/>
                </a:lnTo>
                <a:lnTo>
                  <a:pt x="9639300" y="38100"/>
                </a:lnTo>
                <a:lnTo>
                  <a:pt x="9639300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48454" y="1659382"/>
            <a:ext cx="2042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Special</a:t>
            </a:r>
            <a:r>
              <a:rPr sz="1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Value</a:t>
            </a:r>
            <a:r>
              <a:rPr sz="12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dirty="0">
                <a:latin typeface="Calibri" panose="020F0502020204030204"/>
                <a:cs typeface="Calibri" panose="020F0502020204030204"/>
              </a:rPr>
              <a:t>Test</a:t>
            </a:r>
            <a:r>
              <a:rPr sz="12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200" b="1" spc="-10" dirty="0">
                <a:latin typeface="Calibri" panose="020F0502020204030204"/>
                <a:cs typeface="Calibri" panose="020F0502020204030204"/>
              </a:rPr>
              <a:t>Cases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363" y="7217126"/>
            <a:ext cx="775970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Dept.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of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 ISE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89185" y="7217126"/>
            <a:ext cx="575945" cy="2044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Page</a:t>
            </a:r>
            <a:r>
              <a:rPr sz="120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20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0263" y="1865629"/>
          <a:ext cx="9740265" cy="2319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/>
                <a:gridCol w="3246754"/>
                <a:gridCol w="521335"/>
                <a:gridCol w="571500"/>
                <a:gridCol w="654050"/>
                <a:gridCol w="460375"/>
                <a:gridCol w="819785"/>
                <a:gridCol w="458470"/>
                <a:gridCol w="629284"/>
                <a:gridCol w="586104"/>
                <a:gridCol w="1244600"/>
              </a:tblGrid>
              <a:tr h="205104">
                <a:tc rowSpan="2">
                  <a:txBody>
                    <a:bodyPr/>
                    <a:lstStyle/>
                    <a:p>
                      <a:pPr marL="170180" marR="76835" indent="-85725">
                        <a:lnSpc>
                          <a:spcPct val="102000"/>
                        </a:lnSpc>
                        <a:spcBef>
                          <a:spcPts val="975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Case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Description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Input</a:t>
                      </a:r>
                      <a:r>
                        <a:rPr sz="12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Expected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b="1" dirty="0">
                          <a:latin typeface="Calibri" panose="020F0502020204030204"/>
                          <a:cs typeface="Calibri" panose="020F0502020204030204"/>
                        </a:rPr>
                        <a:t>Actual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output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609">
                <a:tc vMerge="1"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80645" indent="10160">
                        <a:lnSpc>
                          <a:spcPct val="102000"/>
                        </a:lnSpc>
                        <a:spcBef>
                          <a:spcPts val="17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 </a:t>
                      </a: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Locks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74930" indent="39370">
                        <a:lnSpc>
                          <a:spcPct val="102000"/>
                        </a:lnSpc>
                        <a:spcBef>
                          <a:spcPts val="17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 Stocks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96520" indent="59055">
                        <a:lnSpc>
                          <a:spcPct val="102000"/>
                        </a:lnSpc>
                        <a:spcBef>
                          <a:spcPts val="17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Total Barrels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7025" marR="98425" indent="-220980">
                        <a:lnSpc>
                          <a:spcPct val="102000"/>
                        </a:lnSpc>
                        <a:spcBef>
                          <a:spcPts val="170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Commissi </a:t>
                      </a:r>
                      <a:r>
                        <a:rPr sz="1200" b="1" spc="-25" dirty="0">
                          <a:latin typeface="Calibri" panose="020F0502020204030204"/>
                          <a:cs typeface="Calibri" panose="020F0502020204030204"/>
                        </a:rPr>
                        <a:t>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84455" indent="-62865">
                        <a:lnSpc>
                          <a:spcPct val="102000"/>
                        </a:lnSpc>
                        <a:spcBef>
                          <a:spcPts val="170"/>
                        </a:spcBef>
                      </a:pPr>
                      <a:r>
                        <a:rPr sz="1200" b="1" spc="-20" dirty="0">
                          <a:latin typeface="Calibri" panose="020F0502020204030204"/>
                          <a:cs typeface="Calibri" panose="020F0502020204030204"/>
                        </a:rPr>
                        <a:t>Commi </a:t>
                      </a: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ssion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Status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b="1" spc="-10" dirty="0">
                          <a:latin typeface="Calibri" panose="020F0502020204030204"/>
                          <a:cs typeface="Calibri" panose="020F0502020204030204"/>
                        </a:rPr>
                        <a:t>Comment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 marR="171450" indent="-106680">
                        <a:lnSpc>
                          <a:spcPct val="102000"/>
                        </a:lnSpc>
                        <a:spcBef>
                          <a:spcPts val="15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random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such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calculate commission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995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99.5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 marR="153035" indent="20955">
                        <a:lnSpc>
                          <a:spcPct val="102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random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such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calculate commission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200" spc="2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54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1005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100.75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 marR="171450" indent="-106680">
                        <a:lnSpc>
                          <a:spcPct val="1020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random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such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calculate commission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less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1795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219.25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170815" indent="4445">
                        <a:lnSpc>
                          <a:spcPct val="10200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Enter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random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values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such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that</a:t>
                      </a: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to 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calculate commission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for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nearly</a:t>
                      </a:r>
                      <a:r>
                        <a:rPr sz="12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greater</a:t>
                      </a:r>
                      <a:r>
                        <a:rPr sz="1200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than</a:t>
                      </a:r>
                      <a:r>
                        <a:rPr sz="1200" spc="2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1805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spc="-25" dirty="0">
                          <a:latin typeface="Calibri" panose="020F0502020204030204"/>
                          <a:cs typeface="Calibri" panose="020F0502020204030204"/>
                        </a:rPr>
                        <a:t>221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Border</a:t>
                      </a:r>
                      <a:r>
                        <a:rPr sz="12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dirty="0">
                          <a:latin typeface="Calibri" panose="020F0502020204030204"/>
                          <a:cs typeface="Calibri" panose="020F0502020204030204"/>
                        </a:rPr>
                        <a:t>point</a:t>
                      </a:r>
                      <a:r>
                        <a:rPr sz="12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200" spc="-50" dirty="0">
                          <a:latin typeface="Calibri" panose="020F0502020204030204"/>
                          <a:cs typeface="Calibri" panose="020F0502020204030204"/>
                        </a:rPr>
                        <a:t>+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13264</Words>
  <Application>WPS Presentation</Application>
  <PresentationFormat>Custom</PresentationFormat>
  <Paragraphs>1280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Cambria</vt:lpstr>
      <vt:lpstr>Verdana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K.S Mathad</cp:lastModifiedBy>
  <cp:revision>4</cp:revision>
  <dcterms:created xsi:type="dcterms:W3CDTF">2025-08-28T10:40:00Z</dcterms:created>
  <dcterms:modified xsi:type="dcterms:W3CDTF">2025-10-09T11:05:46Z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2015-07-24T11:00:00Z</vt:filetime>
  </property>
  <property fmtid="{D5CDD505-2E9C-101B-9397-08002B2CF9AE}" pid="3" name="Creator">
    <vt:lpwstr>convertonlinefree.com</vt:lpwstr>
  </property>
  <property fmtid="{D5CDD505-2E9C-101B-9397-08002B2CF9AE}" pid="4" name="LastSaved">
    <vt:filetime>2025-08-28T11:00:00Z</vt:filetime>
  </property>
  <property fmtid="{D5CDD505-2E9C-101B-9397-08002B2CF9AE}" pid="5" name="Producer">
    <vt:lpwstr>convertonlinefree.com</vt:lpwstr>
  </property>
  <property fmtid="{D5CDD505-2E9C-101B-9397-08002B2CF9AE}" pid="6" name="ICV">
    <vt:lpwstr>AA64F5D47C394A49A3E2D6F9CD96664B_13</vt:lpwstr>
  </property>
  <property fmtid="{D5CDD505-2E9C-101B-9397-08002B2CF9AE}" pid="7" name="KSOProductBuildVer">
    <vt:lpwstr>1033-12.2.0.22549</vt:lpwstr>
  </property>
</Properties>
</file>